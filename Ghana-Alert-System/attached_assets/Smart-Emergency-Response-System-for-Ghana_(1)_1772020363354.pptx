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Manrope" panose="020B0604020202020204" charset="0"/>
      <p:regular r:id="rId13"/>
    </p:embeddedFont>
    <p:embeddedFont>
      <p:font typeface="Alexandria Medium" panose="020B0604020202020204" charset="-78"/>
      <p:regular r:id="rId14"/>
    </p:embeddedFont>
    <p:embeddedFont>
      <p:font typeface="Calibri" panose="020F0502020204030204" pitchFamily="3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3" d="100"/>
          <a:sy n="73" d="100"/>
        </p:scale>
        <p:origin x="48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27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2.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22.png"/><Relationship Id="rId4" Type="http://schemas.openxmlformats.org/officeDocument/2006/relationships/image" Target="../media/image-10-2.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518648"/>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5B6E8C"/>
                </a:solidFill>
                <a:latin typeface="Alexandria Medium" pitchFamily="34" charset="0"/>
                <a:ea typeface="Alexandria Medium" pitchFamily="34" charset="-122"/>
                <a:cs typeface="Alexandria Medium" pitchFamily="34" charset="-120"/>
              </a:rPr>
              <a:t>Smart Emergency Response System for Ghana</a:t>
            </a:r>
            <a:endParaRPr lang="en-US" sz="4450" dirty="0"/>
          </a:p>
        </p:txBody>
      </p:sp>
      <p:sp>
        <p:nvSpPr>
          <p:cNvPr id="4" name="Text 1"/>
          <p:cNvSpPr/>
          <p:nvPr/>
        </p:nvSpPr>
        <p:spPr>
          <a:xfrm>
            <a:off x="793790" y="4985147"/>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5B6E8C"/>
                </a:solidFill>
                <a:latin typeface="Manrope" pitchFamily="34" charset="0"/>
                <a:ea typeface="Manrope" pitchFamily="34" charset="-122"/>
                <a:cs typeface="Manrope" pitchFamily="34" charset="-120"/>
              </a:rPr>
              <a:t>A real-time mobile and web platform transforming emergency reporting and response for national security services.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17402" y="508516"/>
            <a:ext cx="1166813" cy="313611"/>
          </a:xfrm>
          <a:prstGeom prst="roundRect">
            <a:avLst>
              <a:gd name="adj" fmla="val 68739"/>
            </a:avLst>
          </a:prstGeom>
          <a:solidFill>
            <a:srgbClr val="CDEFFE"/>
          </a:solidFill>
          <a:ln/>
        </p:spPr>
      </p:sp>
      <p:sp>
        <p:nvSpPr>
          <p:cNvPr id="3" name="Text 1"/>
          <p:cNvSpPr/>
          <p:nvPr/>
        </p:nvSpPr>
        <p:spPr>
          <a:xfrm>
            <a:off x="1225153" y="562332"/>
            <a:ext cx="951309" cy="205978"/>
          </a:xfrm>
          <a:prstGeom prst="rect">
            <a:avLst/>
          </a:prstGeom>
          <a:noFill/>
          <a:ln/>
        </p:spPr>
        <p:txBody>
          <a:bodyPr wrap="none" lIns="0" tIns="0" rIns="0" bIns="0" rtlCol="0" anchor="t"/>
          <a:lstStyle/>
          <a:p>
            <a:pPr marL="0" indent="0" algn="l">
              <a:lnSpc>
                <a:spcPts val="1600"/>
              </a:lnSpc>
              <a:buNone/>
            </a:pPr>
            <a:r>
              <a:rPr lang="en-US" sz="1100" dirty="0">
                <a:solidFill>
                  <a:srgbClr val="5B6E8C"/>
                </a:solidFill>
                <a:latin typeface="Manrope" pitchFamily="34" charset="0"/>
                <a:ea typeface="Manrope" pitchFamily="34" charset="-122"/>
                <a:cs typeface="Manrope" pitchFamily="34" charset="-120"/>
              </a:rPr>
              <a:t>BACKGROUND</a:t>
            </a:r>
            <a:endParaRPr lang="en-US" sz="1100" dirty="0"/>
          </a:p>
        </p:txBody>
      </p:sp>
      <p:sp>
        <p:nvSpPr>
          <p:cNvPr id="4" name="Text 2"/>
          <p:cNvSpPr/>
          <p:nvPr/>
        </p:nvSpPr>
        <p:spPr>
          <a:xfrm>
            <a:off x="1117402" y="878919"/>
            <a:ext cx="7865388" cy="561380"/>
          </a:xfrm>
          <a:prstGeom prst="rect">
            <a:avLst/>
          </a:prstGeom>
          <a:noFill/>
          <a:ln/>
        </p:spPr>
        <p:txBody>
          <a:bodyPr wrap="none" lIns="0" tIns="0" rIns="0" bIns="0" rtlCol="0" anchor="t"/>
          <a:lstStyle/>
          <a:p>
            <a:pPr marL="0" indent="0" algn="l">
              <a:lnSpc>
                <a:spcPts val="4400"/>
              </a:lnSpc>
              <a:buNone/>
            </a:pPr>
            <a:r>
              <a:rPr lang="en-US" sz="3500" dirty="0">
                <a:solidFill>
                  <a:srgbClr val="5B6E8C"/>
                </a:solidFill>
                <a:latin typeface="Alexandria Medium" pitchFamily="34" charset="0"/>
                <a:ea typeface="Alexandria Medium" pitchFamily="34" charset="-122"/>
                <a:cs typeface="Alexandria Medium" pitchFamily="34" charset="-120"/>
              </a:rPr>
              <a:t>The Current Emergency Landscape</a:t>
            </a:r>
            <a:endParaRPr lang="en-US" sz="3500" dirty="0"/>
          </a:p>
        </p:txBody>
      </p:sp>
      <p:pic>
        <p:nvPicPr>
          <p:cNvPr id="5" name="Image 0" descr="preencoded.png"/>
          <p:cNvPicPr>
            <a:picLocks noChangeAspect="1"/>
          </p:cNvPicPr>
          <p:nvPr/>
        </p:nvPicPr>
        <p:blipFill>
          <a:blip r:embed="rId3"/>
          <a:stretch>
            <a:fillRect/>
          </a:stretch>
        </p:blipFill>
        <p:spPr>
          <a:xfrm>
            <a:off x="1117402" y="1831658"/>
            <a:ext cx="7903607" cy="4411266"/>
          </a:xfrm>
          <a:prstGeom prst="rect">
            <a:avLst/>
          </a:prstGeom>
        </p:spPr>
      </p:pic>
      <p:sp>
        <p:nvSpPr>
          <p:cNvPr id="6" name="Text 3"/>
          <p:cNvSpPr/>
          <p:nvPr/>
        </p:nvSpPr>
        <p:spPr>
          <a:xfrm>
            <a:off x="9466778" y="3117890"/>
            <a:ext cx="4053602" cy="1802725"/>
          </a:xfrm>
          <a:prstGeom prst="rect">
            <a:avLst/>
          </a:prstGeom>
          <a:noFill/>
          <a:ln/>
        </p:spPr>
        <p:txBody>
          <a:bodyPr wrap="square" lIns="0" tIns="0" rIns="0" bIns="0" rtlCol="0" anchor="t"/>
          <a:lstStyle/>
          <a:p>
            <a:pPr marL="0" indent="0" algn="l">
              <a:lnSpc>
                <a:spcPts val="2000"/>
              </a:lnSpc>
              <a:buNone/>
            </a:pPr>
            <a:r>
              <a:rPr lang="en-US" sz="1400" dirty="0">
                <a:solidFill>
                  <a:srgbClr val="5B6E8C"/>
                </a:solidFill>
                <a:latin typeface="Manrope" pitchFamily="34" charset="0"/>
                <a:ea typeface="Manrope" pitchFamily="34" charset="-122"/>
                <a:cs typeface="Manrope" pitchFamily="34" charset="-120"/>
              </a:rPr>
              <a:t>Ghana's emergency services rely on traditional phone calls to 191 (Police), 192 (Fire), 193 (Ambulance), and 112 (National Emergency Line). With rising smartphone usage and internet connectivity, there's an opportunity to leverage modern technology for faster, more reliable emergency response.</a:t>
            </a:r>
            <a:endParaRPr lang="en-US" sz="1400" dirty="0"/>
          </a:p>
        </p:txBody>
      </p:sp>
      <p:sp>
        <p:nvSpPr>
          <p:cNvPr id="7" name="Text 4"/>
          <p:cNvSpPr/>
          <p:nvPr/>
        </p:nvSpPr>
        <p:spPr>
          <a:xfrm>
            <a:off x="1117402" y="6544985"/>
            <a:ext cx="179546" cy="224552"/>
          </a:xfrm>
          <a:prstGeom prst="rect">
            <a:avLst/>
          </a:prstGeom>
          <a:noFill/>
          <a:ln/>
        </p:spPr>
        <p:txBody>
          <a:bodyPr wrap="none" lIns="0" tIns="0" rIns="0" bIns="0" rtlCol="0" anchor="t"/>
          <a:lstStyle/>
          <a:p>
            <a:pPr marL="0" indent="0" algn="l">
              <a:lnSpc>
                <a:spcPts val="2000"/>
              </a:lnSpc>
              <a:buNone/>
            </a:pPr>
            <a:r>
              <a:rPr lang="en-US" sz="1400" dirty="0">
                <a:solidFill>
                  <a:srgbClr val="5B6E8C"/>
                </a:solidFill>
                <a:latin typeface="Alexandria Light" pitchFamily="34" charset="0"/>
                <a:ea typeface="Alexandria Light" pitchFamily="34" charset="-122"/>
                <a:cs typeface="Alexandria Light" pitchFamily="34" charset="-120"/>
              </a:rPr>
              <a:t>01</a:t>
            </a:r>
            <a:endParaRPr lang="en-US" sz="1400" dirty="0"/>
          </a:p>
        </p:txBody>
      </p:sp>
      <p:pic>
        <p:nvPicPr>
          <p:cNvPr id="8" name="Image 1" descr="preencoded.png"/>
          <p:cNvPicPr>
            <a:picLocks noChangeAspect="1"/>
          </p:cNvPicPr>
          <p:nvPr/>
        </p:nvPicPr>
        <p:blipFill>
          <a:blip r:embed="rId4"/>
          <a:stretch>
            <a:fillRect/>
          </a:stretch>
        </p:blipFill>
        <p:spPr>
          <a:xfrm>
            <a:off x="1117402" y="6827401"/>
            <a:ext cx="4037052" cy="22860"/>
          </a:xfrm>
          <a:prstGeom prst="rect">
            <a:avLst/>
          </a:prstGeom>
        </p:spPr>
      </p:pic>
      <p:sp>
        <p:nvSpPr>
          <p:cNvPr id="9" name="Text 5"/>
          <p:cNvSpPr/>
          <p:nvPr/>
        </p:nvSpPr>
        <p:spPr>
          <a:xfrm>
            <a:off x="1117402" y="6962894"/>
            <a:ext cx="2402800" cy="280630"/>
          </a:xfrm>
          <a:prstGeom prst="rect">
            <a:avLst/>
          </a:prstGeom>
          <a:noFill/>
          <a:ln/>
        </p:spPr>
        <p:txBody>
          <a:bodyPr wrap="none" lIns="0" tIns="0" rIns="0" bIns="0" rtlCol="0" anchor="t"/>
          <a:lstStyle/>
          <a:p>
            <a:pPr marL="0" indent="0" algn="l">
              <a:lnSpc>
                <a:spcPts val="2200"/>
              </a:lnSpc>
              <a:buNone/>
            </a:pPr>
            <a:r>
              <a:rPr lang="en-US" sz="1750" dirty="0">
                <a:solidFill>
                  <a:srgbClr val="5B6E8C"/>
                </a:solidFill>
                <a:latin typeface="Alexandria Medium" pitchFamily="34" charset="0"/>
                <a:ea typeface="Alexandria Medium" pitchFamily="34" charset="-122"/>
                <a:cs typeface="Alexandria Medium" pitchFamily="34" charset="-120"/>
              </a:rPr>
              <a:t>Traditional Reporting</a:t>
            </a:r>
            <a:endParaRPr lang="en-US" sz="1750" dirty="0"/>
          </a:p>
        </p:txBody>
      </p:sp>
      <p:sp>
        <p:nvSpPr>
          <p:cNvPr id="10" name="Text 6"/>
          <p:cNvSpPr/>
          <p:nvPr/>
        </p:nvSpPr>
        <p:spPr>
          <a:xfrm>
            <a:off x="1117402" y="7328773"/>
            <a:ext cx="4037052" cy="257532"/>
          </a:xfrm>
          <a:prstGeom prst="rect">
            <a:avLst/>
          </a:prstGeom>
          <a:noFill/>
          <a:ln/>
        </p:spPr>
        <p:txBody>
          <a:bodyPr wrap="none" lIns="0" tIns="0" rIns="0" bIns="0" rtlCol="0" anchor="t"/>
          <a:lstStyle/>
          <a:p>
            <a:pPr marL="0" indent="0" algn="l">
              <a:lnSpc>
                <a:spcPts val="2000"/>
              </a:lnSpc>
              <a:buNone/>
            </a:pPr>
            <a:r>
              <a:rPr lang="en-US" sz="1400" dirty="0">
                <a:solidFill>
                  <a:srgbClr val="5B6E8C"/>
                </a:solidFill>
                <a:latin typeface="Manrope" pitchFamily="34" charset="0"/>
                <a:ea typeface="Manrope" pitchFamily="34" charset="-122"/>
                <a:cs typeface="Manrope" pitchFamily="34" charset="-120"/>
              </a:rPr>
              <a:t>Phone-based emergency calls</a:t>
            </a:r>
            <a:endParaRPr lang="en-US" sz="1400" dirty="0"/>
          </a:p>
        </p:txBody>
      </p:sp>
      <p:sp>
        <p:nvSpPr>
          <p:cNvPr id="11" name="Text 7"/>
          <p:cNvSpPr/>
          <p:nvPr/>
        </p:nvSpPr>
        <p:spPr>
          <a:xfrm>
            <a:off x="5296614" y="6544985"/>
            <a:ext cx="179546" cy="224552"/>
          </a:xfrm>
          <a:prstGeom prst="rect">
            <a:avLst/>
          </a:prstGeom>
          <a:noFill/>
          <a:ln/>
        </p:spPr>
        <p:txBody>
          <a:bodyPr wrap="none" lIns="0" tIns="0" rIns="0" bIns="0" rtlCol="0" anchor="t"/>
          <a:lstStyle/>
          <a:p>
            <a:pPr marL="0" indent="0" algn="l">
              <a:lnSpc>
                <a:spcPts val="2000"/>
              </a:lnSpc>
              <a:buNone/>
            </a:pPr>
            <a:r>
              <a:rPr lang="en-US" sz="1400" dirty="0">
                <a:solidFill>
                  <a:srgbClr val="5B6E8C"/>
                </a:solidFill>
                <a:latin typeface="Alexandria Light" pitchFamily="34" charset="0"/>
                <a:ea typeface="Alexandria Light" pitchFamily="34" charset="-122"/>
                <a:cs typeface="Alexandria Light" pitchFamily="34" charset="-120"/>
              </a:rPr>
              <a:t>02</a:t>
            </a:r>
            <a:endParaRPr lang="en-US" sz="1400" dirty="0"/>
          </a:p>
        </p:txBody>
      </p:sp>
      <p:pic>
        <p:nvPicPr>
          <p:cNvPr id="12" name="Image 2" descr="preencoded.png"/>
          <p:cNvPicPr>
            <a:picLocks noChangeAspect="1"/>
          </p:cNvPicPr>
          <p:nvPr/>
        </p:nvPicPr>
        <p:blipFill>
          <a:blip r:embed="rId4"/>
          <a:stretch>
            <a:fillRect/>
          </a:stretch>
        </p:blipFill>
        <p:spPr>
          <a:xfrm>
            <a:off x="5296614" y="6827401"/>
            <a:ext cx="4037052" cy="22860"/>
          </a:xfrm>
          <a:prstGeom prst="rect">
            <a:avLst/>
          </a:prstGeom>
        </p:spPr>
      </p:pic>
      <p:sp>
        <p:nvSpPr>
          <p:cNvPr id="13" name="Text 8"/>
          <p:cNvSpPr/>
          <p:nvPr/>
        </p:nvSpPr>
        <p:spPr>
          <a:xfrm>
            <a:off x="5296614" y="6962894"/>
            <a:ext cx="2529007" cy="280630"/>
          </a:xfrm>
          <a:prstGeom prst="rect">
            <a:avLst/>
          </a:prstGeom>
          <a:noFill/>
          <a:ln/>
        </p:spPr>
        <p:txBody>
          <a:bodyPr wrap="none" lIns="0" tIns="0" rIns="0" bIns="0" rtlCol="0" anchor="t"/>
          <a:lstStyle/>
          <a:p>
            <a:pPr marL="0" indent="0" algn="l">
              <a:lnSpc>
                <a:spcPts val="2200"/>
              </a:lnSpc>
              <a:buNone/>
            </a:pPr>
            <a:r>
              <a:rPr lang="en-US" sz="1750" dirty="0">
                <a:solidFill>
                  <a:srgbClr val="5B6E8C"/>
                </a:solidFill>
                <a:latin typeface="Alexandria Medium" pitchFamily="34" charset="0"/>
                <a:ea typeface="Alexandria Medium" pitchFamily="34" charset="-122"/>
                <a:cs typeface="Alexandria Medium" pitchFamily="34" charset="-120"/>
              </a:rPr>
              <a:t>Digital Transformation</a:t>
            </a:r>
            <a:endParaRPr lang="en-US" sz="1750" dirty="0"/>
          </a:p>
        </p:txBody>
      </p:sp>
      <p:sp>
        <p:nvSpPr>
          <p:cNvPr id="14" name="Text 9"/>
          <p:cNvSpPr/>
          <p:nvPr/>
        </p:nvSpPr>
        <p:spPr>
          <a:xfrm>
            <a:off x="5296614" y="7328773"/>
            <a:ext cx="4037052" cy="257532"/>
          </a:xfrm>
          <a:prstGeom prst="rect">
            <a:avLst/>
          </a:prstGeom>
          <a:noFill/>
          <a:ln/>
        </p:spPr>
        <p:txBody>
          <a:bodyPr wrap="none" lIns="0" tIns="0" rIns="0" bIns="0" rtlCol="0" anchor="t"/>
          <a:lstStyle/>
          <a:p>
            <a:pPr marL="0" indent="0" algn="l">
              <a:lnSpc>
                <a:spcPts val="2000"/>
              </a:lnSpc>
              <a:buNone/>
            </a:pPr>
            <a:r>
              <a:rPr lang="en-US" sz="1400" dirty="0">
                <a:solidFill>
                  <a:srgbClr val="5B6E8C"/>
                </a:solidFill>
                <a:latin typeface="Manrope" pitchFamily="34" charset="0"/>
                <a:ea typeface="Manrope" pitchFamily="34" charset="-122"/>
                <a:cs typeface="Manrope" pitchFamily="34" charset="-120"/>
              </a:rPr>
              <a:t>Mobile and web technology integration</a:t>
            </a:r>
            <a:endParaRPr lang="en-US" sz="1400" dirty="0"/>
          </a:p>
        </p:txBody>
      </p:sp>
      <p:sp>
        <p:nvSpPr>
          <p:cNvPr id="15" name="Text 10"/>
          <p:cNvSpPr/>
          <p:nvPr/>
        </p:nvSpPr>
        <p:spPr>
          <a:xfrm>
            <a:off x="9475827" y="6544985"/>
            <a:ext cx="179546" cy="224552"/>
          </a:xfrm>
          <a:prstGeom prst="rect">
            <a:avLst/>
          </a:prstGeom>
          <a:noFill/>
          <a:ln/>
        </p:spPr>
        <p:txBody>
          <a:bodyPr wrap="none" lIns="0" tIns="0" rIns="0" bIns="0" rtlCol="0" anchor="t"/>
          <a:lstStyle/>
          <a:p>
            <a:pPr marL="0" indent="0" algn="l">
              <a:lnSpc>
                <a:spcPts val="2000"/>
              </a:lnSpc>
              <a:buNone/>
            </a:pPr>
            <a:r>
              <a:rPr lang="en-US" sz="1400" dirty="0">
                <a:solidFill>
                  <a:srgbClr val="5B6E8C"/>
                </a:solidFill>
                <a:latin typeface="Alexandria Light" pitchFamily="34" charset="0"/>
                <a:ea typeface="Alexandria Light" pitchFamily="34" charset="-122"/>
                <a:cs typeface="Alexandria Light" pitchFamily="34" charset="-120"/>
              </a:rPr>
              <a:t>03</a:t>
            </a:r>
            <a:endParaRPr lang="en-US" sz="1400" dirty="0"/>
          </a:p>
        </p:txBody>
      </p:sp>
      <p:pic>
        <p:nvPicPr>
          <p:cNvPr id="16" name="Image 3" descr="preencoded.png"/>
          <p:cNvPicPr>
            <a:picLocks noChangeAspect="1"/>
          </p:cNvPicPr>
          <p:nvPr/>
        </p:nvPicPr>
        <p:blipFill>
          <a:blip r:embed="rId4"/>
          <a:stretch>
            <a:fillRect/>
          </a:stretch>
        </p:blipFill>
        <p:spPr>
          <a:xfrm>
            <a:off x="9475827" y="6827401"/>
            <a:ext cx="4037052" cy="22860"/>
          </a:xfrm>
          <a:prstGeom prst="rect">
            <a:avLst/>
          </a:prstGeom>
        </p:spPr>
      </p:pic>
      <p:sp>
        <p:nvSpPr>
          <p:cNvPr id="17" name="Text 11"/>
          <p:cNvSpPr/>
          <p:nvPr/>
        </p:nvSpPr>
        <p:spPr>
          <a:xfrm>
            <a:off x="9475827" y="6962894"/>
            <a:ext cx="2287191" cy="280630"/>
          </a:xfrm>
          <a:prstGeom prst="rect">
            <a:avLst/>
          </a:prstGeom>
          <a:noFill/>
          <a:ln/>
        </p:spPr>
        <p:txBody>
          <a:bodyPr wrap="none" lIns="0" tIns="0" rIns="0" bIns="0" rtlCol="0" anchor="t"/>
          <a:lstStyle/>
          <a:p>
            <a:pPr marL="0" indent="0" algn="l">
              <a:lnSpc>
                <a:spcPts val="2200"/>
              </a:lnSpc>
              <a:buNone/>
            </a:pPr>
            <a:r>
              <a:rPr lang="en-US" sz="1750" dirty="0">
                <a:solidFill>
                  <a:srgbClr val="5B6E8C"/>
                </a:solidFill>
                <a:latin typeface="Alexandria Medium" pitchFamily="34" charset="0"/>
                <a:ea typeface="Alexandria Medium" pitchFamily="34" charset="-122"/>
                <a:cs typeface="Alexandria Medium" pitchFamily="34" charset="-120"/>
              </a:rPr>
              <a:t>Enhanced Response</a:t>
            </a:r>
            <a:endParaRPr lang="en-US" sz="1750" dirty="0"/>
          </a:p>
        </p:txBody>
      </p:sp>
      <p:sp>
        <p:nvSpPr>
          <p:cNvPr id="18" name="Text 12"/>
          <p:cNvSpPr/>
          <p:nvPr/>
        </p:nvSpPr>
        <p:spPr>
          <a:xfrm>
            <a:off x="9475827" y="7328773"/>
            <a:ext cx="4037052" cy="257532"/>
          </a:xfrm>
          <a:prstGeom prst="rect">
            <a:avLst/>
          </a:prstGeom>
          <a:noFill/>
          <a:ln/>
        </p:spPr>
        <p:txBody>
          <a:bodyPr wrap="none" lIns="0" tIns="0" rIns="0" bIns="0" rtlCol="0" anchor="t"/>
          <a:lstStyle/>
          <a:p>
            <a:pPr marL="0" indent="0" algn="l">
              <a:lnSpc>
                <a:spcPts val="2000"/>
              </a:lnSpc>
              <a:buNone/>
            </a:pPr>
            <a:r>
              <a:rPr lang="en-US" sz="1400" dirty="0">
                <a:solidFill>
                  <a:srgbClr val="5B6E8C"/>
                </a:solidFill>
                <a:latin typeface="Manrope" pitchFamily="34" charset="0"/>
                <a:ea typeface="Manrope" pitchFamily="34" charset="-122"/>
                <a:cs typeface="Manrope" pitchFamily="34" charset="-120"/>
              </a:rPr>
              <a:t>Real-time evidence and location tracking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672346"/>
            <a:ext cx="1691402" cy="441484"/>
          </a:xfrm>
          <a:prstGeom prst="roundRect">
            <a:avLst>
              <a:gd name="adj" fmla="val 61654"/>
            </a:avLst>
          </a:prstGeom>
          <a:noFill/>
          <a:ln w="7620">
            <a:solidFill>
              <a:srgbClr val="AAE4FE"/>
            </a:solidFill>
            <a:prstDash val="solid"/>
          </a:ln>
        </p:spPr>
      </p:sp>
      <p:sp>
        <p:nvSpPr>
          <p:cNvPr id="3" name="Text 1"/>
          <p:cNvSpPr/>
          <p:nvPr/>
        </p:nvSpPr>
        <p:spPr>
          <a:xfrm>
            <a:off x="937498" y="747951"/>
            <a:ext cx="1403985" cy="290274"/>
          </a:xfrm>
          <a:prstGeom prst="rect">
            <a:avLst/>
          </a:prstGeom>
          <a:noFill/>
          <a:ln/>
        </p:spPr>
        <p:txBody>
          <a:bodyPr wrap="none" lIns="0" tIns="0" rIns="0" bIns="0" rtlCol="0" anchor="t"/>
          <a:lstStyle/>
          <a:p>
            <a:pPr marL="0" indent="0" algn="l">
              <a:lnSpc>
                <a:spcPts val="2250"/>
              </a:lnSpc>
              <a:buNone/>
            </a:pPr>
            <a:r>
              <a:rPr lang="en-US" sz="1400" dirty="0">
                <a:solidFill>
                  <a:srgbClr val="AAE4FE"/>
                </a:solidFill>
                <a:latin typeface="Manrope" pitchFamily="34" charset="0"/>
                <a:ea typeface="Manrope" pitchFamily="34" charset="-122"/>
                <a:cs typeface="Manrope" pitchFamily="34" charset="-120"/>
              </a:rPr>
              <a:t>CRITICAL ISSUES</a:t>
            </a:r>
            <a:endParaRPr lang="en-US" sz="1400" dirty="0"/>
          </a:p>
        </p:txBody>
      </p:sp>
      <p:sp>
        <p:nvSpPr>
          <p:cNvPr id="4" name="Text 2"/>
          <p:cNvSpPr/>
          <p:nvPr/>
        </p:nvSpPr>
        <p:spPr>
          <a:xfrm>
            <a:off x="793790" y="1204555"/>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5B6E8C"/>
                </a:solidFill>
                <a:latin typeface="Alexandria Medium" pitchFamily="34" charset="0"/>
                <a:ea typeface="Alexandria Medium" pitchFamily="34" charset="-122"/>
                <a:cs typeface="Alexandria Medium" pitchFamily="34" charset="-120"/>
              </a:rPr>
              <a:t>System Challenges</a:t>
            </a:r>
            <a:endParaRPr lang="en-US" sz="4450" dirty="0"/>
          </a:p>
        </p:txBody>
      </p:sp>
      <p:sp>
        <p:nvSpPr>
          <p:cNvPr id="5" name="Shape 3"/>
          <p:cNvSpPr/>
          <p:nvPr/>
        </p:nvSpPr>
        <p:spPr>
          <a:xfrm>
            <a:off x="793790" y="2253496"/>
            <a:ext cx="3090505" cy="2773799"/>
          </a:xfrm>
          <a:prstGeom prst="roundRect">
            <a:avLst>
              <a:gd name="adj" fmla="val 12266"/>
            </a:avLst>
          </a:prstGeom>
          <a:solidFill>
            <a:srgbClr val="E6F7FF"/>
          </a:solidFill>
          <a:ln w="7620">
            <a:solidFill>
              <a:srgbClr val="B3D5E4"/>
            </a:solidFill>
            <a:prstDash val="solid"/>
          </a:ln>
        </p:spPr>
      </p:sp>
      <p:sp>
        <p:nvSpPr>
          <p:cNvPr id="6" name="Text 4"/>
          <p:cNvSpPr/>
          <p:nvPr/>
        </p:nvSpPr>
        <p:spPr>
          <a:xfrm>
            <a:off x="1028224" y="2487930"/>
            <a:ext cx="2621637"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Alexandria Medium" pitchFamily="34" charset="0"/>
                <a:ea typeface="Alexandria Medium" pitchFamily="34" charset="-122"/>
                <a:cs typeface="Alexandria Medium" pitchFamily="34" charset="-120"/>
              </a:rPr>
              <a:t>Delayed Response</a:t>
            </a:r>
            <a:endParaRPr lang="en-US" sz="2200" dirty="0"/>
          </a:p>
        </p:txBody>
      </p:sp>
      <p:sp>
        <p:nvSpPr>
          <p:cNvPr id="7" name="Text 5"/>
          <p:cNvSpPr/>
          <p:nvPr/>
        </p:nvSpPr>
        <p:spPr>
          <a:xfrm>
            <a:off x="1028224" y="2978348"/>
            <a:ext cx="2621637" cy="1814513"/>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Manrope" pitchFamily="34" charset="0"/>
                <a:ea typeface="Manrope" pitchFamily="34" charset="-122"/>
                <a:cs typeface="Manrope" pitchFamily="34" charset="-120"/>
              </a:rPr>
              <a:t>Inefficient communication channels slow emergency response times</a:t>
            </a:r>
            <a:endParaRPr lang="en-US" sz="1750" dirty="0"/>
          </a:p>
        </p:txBody>
      </p:sp>
      <p:sp>
        <p:nvSpPr>
          <p:cNvPr id="8" name="Shape 6"/>
          <p:cNvSpPr/>
          <p:nvPr/>
        </p:nvSpPr>
        <p:spPr>
          <a:xfrm>
            <a:off x="4111109" y="2253496"/>
            <a:ext cx="3090624" cy="2773799"/>
          </a:xfrm>
          <a:prstGeom prst="roundRect">
            <a:avLst>
              <a:gd name="adj" fmla="val 12266"/>
            </a:avLst>
          </a:prstGeom>
          <a:solidFill>
            <a:srgbClr val="E6F7FF"/>
          </a:solidFill>
          <a:ln w="7620">
            <a:solidFill>
              <a:srgbClr val="B3D5E4"/>
            </a:solidFill>
            <a:prstDash val="solid"/>
          </a:ln>
        </p:spPr>
      </p:sp>
      <p:sp>
        <p:nvSpPr>
          <p:cNvPr id="9" name="Text 7"/>
          <p:cNvSpPr/>
          <p:nvPr/>
        </p:nvSpPr>
        <p:spPr>
          <a:xfrm>
            <a:off x="4345543" y="2487930"/>
            <a:ext cx="2621756"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Alexandria Medium" pitchFamily="34" charset="0"/>
                <a:ea typeface="Alexandria Medium" pitchFamily="34" charset="-122"/>
                <a:cs typeface="Alexandria Medium" pitchFamily="34" charset="-120"/>
              </a:rPr>
              <a:t>Prank Calls</a:t>
            </a:r>
            <a:endParaRPr lang="en-US" sz="2200" dirty="0"/>
          </a:p>
        </p:txBody>
      </p:sp>
      <p:sp>
        <p:nvSpPr>
          <p:cNvPr id="10" name="Text 8"/>
          <p:cNvSpPr/>
          <p:nvPr/>
        </p:nvSpPr>
        <p:spPr>
          <a:xfrm>
            <a:off x="4345543" y="2978348"/>
            <a:ext cx="2621756" cy="1088708"/>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Manrope" pitchFamily="34" charset="0"/>
                <a:ea typeface="Manrope" pitchFamily="34" charset="-122"/>
                <a:cs typeface="Manrope" pitchFamily="34" charset="-120"/>
              </a:rPr>
              <a:t>High incidence of false emergency reports waste resources</a:t>
            </a:r>
            <a:endParaRPr lang="en-US" sz="1750" dirty="0"/>
          </a:p>
        </p:txBody>
      </p:sp>
      <p:sp>
        <p:nvSpPr>
          <p:cNvPr id="11" name="Shape 9"/>
          <p:cNvSpPr/>
          <p:nvPr/>
        </p:nvSpPr>
        <p:spPr>
          <a:xfrm>
            <a:off x="7428548" y="2253496"/>
            <a:ext cx="3090624" cy="2773799"/>
          </a:xfrm>
          <a:prstGeom prst="roundRect">
            <a:avLst>
              <a:gd name="adj" fmla="val 12266"/>
            </a:avLst>
          </a:prstGeom>
          <a:solidFill>
            <a:srgbClr val="E6F7FF"/>
          </a:solidFill>
          <a:ln w="7620">
            <a:solidFill>
              <a:srgbClr val="B3D5E4"/>
            </a:solidFill>
            <a:prstDash val="solid"/>
          </a:ln>
        </p:spPr>
      </p:sp>
      <p:sp>
        <p:nvSpPr>
          <p:cNvPr id="12" name="Text 10"/>
          <p:cNvSpPr/>
          <p:nvPr/>
        </p:nvSpPr>
        <p:spPr>
          <a:xfrm>
            <a:off x="7662982" y="2487930"/>
            <a:ext cx="2621756"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Alexandria Medium" pitchFamily="34" charset="0"/>
                <a:ea typeface="Alexandria Medium" pitchFamily="34" charset="-122"/>
                <a:cs typeface="Alexandria Medium" pitchFamily="34" charset="-120"/>
              </a:rPr>
              <a:t>Location Difficulty</a:t>
            </a:r>
            <a:endParaRPr lang="en-US" sz="2200" dirty="0"/>
          </a:p>
        </p:txBody>
      </p:sp>
      <p:sp>
        <p:nvSpPr>
          <p:cNvPr id="13" name="Text 11"/>
          <p:cNvSpPr/>
          <p:nvPr/>
        </p:nvSpPr>
        <p:spPr>
          <a:xfrm>
            <a:off x="7662982" y="2978348"/>
            <a:ext cx="2621756" cy="1088708"/>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Manrope" pitchFamily="34" charset="0"/>
                <a:ea typeface="Manrope" pitchFamily="34" charset="-122"/>
                <a:cs typeface="Manrope" pitchFamily="34" charset="-120"/>
              </a:rPr>
              <a:t>Inability to accurately locate victims during emergencies</a:t>
            </a:r>
            <a:endParaRPr lang="en-US" sz="1750" dirty="0"/>
          </a:p>
        </p:txBody>
      </p:sp>
      <p:sp>
        <p:nvSpPr>
          <p:cNvPr id="14" name="Shape 12"/>
          <p:cNvSpPr/>
          <p:nvPr/>
        </p:nvSpPr>
        <p:spPr>
          <a:xfrm>
            <a:off x="10745986" y="2253496"/>
            <a:ext cx="3090624" cy="2773799"/>
          </a:xfrm>
          <a:prstGeom prst="roundRect">
            <a:avLst>
              <a:gd name="adj" fmla="val 12266"/>
            </a:avLst>
          </a:prstGeom>
          <a:solidFill>
            <a:srgbClr val="E6F7FF"/>
          </a:solidFill>
          <a:ln w="7620">
            <a:solidFill>
              <a:srgbClr val="B3D5E4"/>
            </a:solidFill>
            <a:prstDash val="solid"/>
          </a:ln>
        </p:spPr>
      </p:sp>
      <p:sp>
        <p:nvSpPr>
          <p:cNvPr id="15" name="Text 13"/>
          <p:cNvSpPr/>
          <p:nvPr/>
        </p:nvSpPr>
        <p:spPr>
          <a:xfrm>
            <a:off x="10980420" y="2487930"/>
            <a:ext cx="2621756" cy="708660"/>
          </a:xfrm>
          <a:prstGeom prst="rect">
            <a:avLst/>
          </a:prstGeom>
          <a:noFill/>
          <a:ln/>
        </p:spPr>
        <p:txBody>
          <a:bodyPr wrap="square" lIns="0" tIns="0" rIns="0" bIns="0" rtlCol="0" anchor="t"/>
          <a:lstStyle/>
          <a:p>
            <a:pPr marL="0" indent="0" algn="l">
              <a:lnSpc>
                <a:spcPts val="2750"/>
              </a:lnSpc>
              <a:buNone/>
            </a:pPr>
            <a:r>
              <a:rPr lang="en-US" sz="2200" dirty="0">
                <a:solidFill>
                  <a:srgbClr val="000000"/>
                </a:solidFill>
                <a:latin typeface="Alexandria Medium" pitchFamily="34" charset="0"/>
                <a:ea typeface="Alexandria Medium" pitchFamily="34" charset="-122"/>
                <a:cs typeface="Alexandria Medium" pitchFamily="34" charset="-120"/>
              </a:rPr>
              <a:t>No Visual Evidence</a:t>
            </a:r>
            <a:endParaRPr lang="en-US" sz="2200" dirty="0"/>
          </a:p>
        </p:txBody>
      </p:sp>
      <p:sp>
        <p:nvSpPr>
          <p:cNvPr id="16" name="Text 14"/>
          <p:cNvSpPr/>
          <p:nvPr/>
        </p:nvSpPr>
        <p:spPr>
          <a:xfrm>
            <a:off x="10980420" y="3332678"/>
            <a:ext cx="2621756" cy="1088708"/>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Manrope" pitchFamily="34" charset="0"/>
                <a:ea typeface="Manrope" pitchFamily="34" charset="-122"/>
                <a:cs typeface="Manrope" pitchFamily="34" charset="-120"/>
              </a:rPr>
              <a:t>Lack of real-time media for informed decision-making</a:t>
            </a:r>
            <a:endParaRPr lang="en-US" sz="1750" dirty="0"/>
          </a:p>
        </p:txBody>
      </p:sp>
      <p:sp>
        <p:nvSpPr>
          <p:cNvPr id="17" name="Shape 15"/>
          <p:cNvSpPr/>
          <p:nvPr/>
        </p:nvSpPr>
        <p:spPr>
          <a:xfrm>
            <a:off x="793790" y="5254109"/>
            <a:ext cx="6407944" cy="1322189"/>
          </a:xfrm>
          <a:prstGeom prst="roundRect">
            <a:avLst>
              <a:gd name="adj" fmla="val 25733"/>
            </a:avLst>
          </a:prstGeom>
          <a:solidFill>
            <a:srgbClr val="E6F7FF"/>
          </a:solidFill>
          <a:ln w="7620">
            <a:solidFill>
              <a:srgbClr val="B3D5E4"/>
            </a:solidFill>
            <a:prstDash val="solid"/>
          </a:ln>
        </p:spPr>
      </p:sp>
      <p:sp>
        <p:nvSpPr>
          <p:cNvPr id="18" name="Text 16"/>
          <p:cNvSpPr/>
          <p:nvPr/>
        </p:nvSpPr>
        <p:spPr>
          <a:xfrm>
            <a:off x="1028224" y="5488543"/>
            <a:ext cx="3011091"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Alexandria Medium" pitchFamily="34" charset="0"/>
                <a:ea typeface="Alexandria Medium" pitchFamily="34" charset="-122"/>
                <a:cs typeface="Alexandria Medium" pitchFamily="34" charset="-120"/>
              </a:rPr>
              <a:t>Fragmented Systems</a:t>
            </a:r>
            <a:endParaRPr lang="en-US" sz="2200" dirty="0"/>
          </a:p>
        </p:txBody>
      </p:sp>
      <p:sp>
        <p:nvSpPr>
          <p:cNvPr id="19" name="Text 17"/>
          <p:cNvSpPr/>
          <p:nvPr/>
        </p:nvSpPr>
        <p:spPr>
          <a:xfrm>
            <a:off x="1028224" y="5978962"/>
            <a:ext cx="5939076"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Manrope" pitchFamily="34" charset="0"/>
                <a:ea typeface="Manrope" pitchFamily="34" charset="-122"/>
                <a:cs typeface="Manrope" pitchFamily="34" charset="-120"/>
              </a:rPr>
              <a:t>Disconnected platforms across security agencies</a:t>
            </a:r>
            <a:endParaRPr lang="en-US" sz="1750" dirty="0"/>
          </a:p>
        </p:txBody>
      </p:sp>
      <p:sp>
        <p:nvSpPr>
          <p:cNvPr id="20" name="Shape 18"/>
          <p:cNvSpPr/>
          <p:nvPr/>
        </p:nvSpPr>
        <p:spPr>
          <a:xfrm>
            <a:off x="7428548" y="5254109"/>
            <a:ext cx="6408063" cy="1322189"/>
          </a:xfrm>
          <a:prstGeom prst="roundRect">
            <a:avLst>
              <a:gd name="adj" fmla="val 25733"/>
            </a:avLst>
          </a:prstGeom>
          <a:solidFill>
            <a:srgbClr val="E6F7FF"/>
          </a:solidFill>
          <a:ln w="7620">
            <a:solidFill>
              <a:srgbClr val="B3D5E4"/>
            </a:solidFill>
            <a:prstDash val="solid"/>
          </a:ln>
        </p:spPr>
      </p:sp>
      <p:sp>
        <p:nvSpPr>
          <p:cNvPr id="21" name="Text 19"/>
          <p:cNvSpPr/>
          <p:nvPr/>
        </p:nvSpPr>
        <p:spPr>
          <a:xfrm>
            <a:off x="7662982" y="548854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Alexandria Medium" pitchFamily="34" charset="0"/>
                <a:ea typeface="Alexandria Medium" pitchFamily="34" charset="-122"/>
                <a:cs typeface="Alexandria Medium" pitchFamily="34" charset="-120"/>
              </a:rPr>
              <a:t>Verification Issues</a:t>
            </a:r>
            <a:endParaRPr lang="en-US" sz="2200" dirty="0"/>
          </a:p>
        </p:txBody>
      </p:sp>
      <p:sp>
        <p:nvSpPr>
          <p:cNvPr id="22" name="Text 20"/>
          <p:cNvSpPr/>
          <p:nvPr/>
        </p:nvSpPr>
        <p:spPr>
          <a:xfrm>
            <a:off x="7662982" y="5978962"/>
            <a:ext cx="5939195"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Manrope" pitchFamily="34" charset="0"/>
                <a:ea typeface="Manrope" pitchFamily="34" charset="-122"/>
                <a:cs typeface="Manrope" pitchFamily="34" charset="-120"/>
              </a:rPr>
              <a:t>Cannot authenticate incident legitimacy quickly</a:t>
            </a:r>
            <a:endParaRPr lang="en-US" sz="1750" dirty="0"/>
          </a:p>
        </p:txBody>
      </p:sp>
      <p:sp>
        <p:nvSpPr>
          <p:cNvPr id="23" name="Text 21"/>
          <p:cNvSpPr/>
          <p:nvPr/>
        </p:nvSpPr>
        <p:spPr>
          <a:xfrm>
            <a:off x="793790" y="683144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B6E8C"/>
                </a:solidFill>
                <a:latin typeface="Manrope" pitchFamily="34" charset="0"/>
                <a:ea typeface="Manrope" pitchFamily="34" charset="-122"/>
                <a:cs typeface="Manrope" pitchFamily="34" charset="-120"/>
              </a:rPr>
              <a:t>These challenges result in loss of lives and property, misuse of emergency resources, and reduced public trust in security services.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42792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5B6E8C"/>
                </a:solidFill>
                <a:latin typeface="Alexandria Medium" pitchFamily="34" charset="0"/>
                <a:ea typeface="Alexandria Medium" pitchFamily="34" charset="-122"/>
                <a:cs typeface="Alexandria Medium" pitchFamily="34" charset="-120"/>
              </a:rPr>
              <a:t>Project Aim</a:t>
            </a:r>
            <a:endParaRPr lang="en-US" sz="4450" dirty="0"/>
          </a:p>
        </p:txBody>
      </p:sp>
      <p:sp>
        <p:nvSpPr>
          <p:cNvPr id="4" name="Text 1"/>
          <p:cNvSpPr/>
          <p:nvPr/>
        </p:nvSpPr>
        <p:spPr>
          <a:xfrm>
            <a:off x="1133951" y="3732014"/>
            <a:ext cx="7216259" cy="1814513"/>
          </a:xfrm>
          <a:prstGeom prst="rect">
            <a:avLst/>
          </a:prstGeom>
          <a:noFill/>
          <a:ln/>
        </p:spPr>
        <p:txBody>
          <a:bodyPr wrap="square" lIns="0" tIns="0" rIns="0" bIns="0" rtlCol="0" anchor="t"/>
          <a:lstStyle/>
          <a:p>
            <a:pPr marL="0" indent="0" algn="l">
              <a:lnSpc>
                <a:spcPts val="2850"/>
              </a:lnSpc>
              <a:buNone/>
            </a:pPr>
            <a:r>
              <a:rPr lang="en-US" sz="1750" dirty="0">
                <a:solidFill>
                  <a:srgbClr val="5B6E8C"/>
                </a:solidFill>
                <a:latin typeface="Manrope" pitchFamily="34" charset="0"/>
                <a:ea typeface="Manrope" pitchFamily="34" charset="-122"/>
                <a:cs typeface="Manrope" pitchFamily="34" charset="-120"/>
              </a:rPr>
              <a:t>To design and implement a secure, real-time, mobile and web-based emergency reporting and response system that enables citizens in Ghana to report emergencies using live media and location tracking, while allowing security agencies to receive, verify, and respond efficiently.</a:t>
            </a:r>
            <a:endParaRPr lang="en-US" sz="1750" dirty="0"/>
          </a:p>
        </p:txBody>
      </p:sp>
      <p:sp>
        <p:nvSpPr>
          <p:cNvPr id="5" name="Shape 2"/>
          <p:cNvSpPr/>
          <p:nvPr/>
        </p:nvSpPr>
        <p:spPr>
          <a:xfrm>
            <a:off x="793790" y="3476863"/>
            <a:ext cx="30480" cy="2324814"/>
          </a:xfrm>
          <a:prstGeom prst="rect">
            <a:avLst/>
          </a:prstGeom>
          <a:solidFill>
            <a:srgbClr val="AAE4FE"/>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918216" y="662107"/>
            <a:ext cx="1082159" cy="262890"/>
          </a:xfrm>
          <a:prstGeom prst="roundRect">
            <a:avLst>
              <a:gd name="adj" fmla="val 71406"/>
            </a:avLst>
          </a:prstGeom>
          <a:solidFill>
            <a:srgbClr val="CDEFFE"/>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012037" y="730925"/>
            <a:ext cx="125135" cy="125135"/>
          </a:xfrm>
          <a:prstGeom prst="rect">
            <a:avLst/>
          </a:prstGeom>
        </p:spPr>
      </p:pic>
      <p:sp>
        <p:nvSpPr>
          <p:cNvPr id="4" name="Text 1"/>
          <p:cNvSpPr/>
          <p:nvPr/>
        </p:nvSpPr>
        <p:spPr>
          <a:xfrm>
            <a:off x="2199680" y="709017"/>
            <a:ext cx="706874" cy="169069"/>
          </a:xfrm>
          <a:prstGeom prst="rect">
            <a:avLst/>
          </a:prstGeom>
          <a:noFill/>
          <a:ln/>
        </p:spPr>
        <p:txBody>
          <a:bodyPr wrap="none" lIns="0" tIns="0" rIns="0" bIns="0" rtlCol="0" anchor="t"/>
          <a:lstStyle/>
          <a:p>
            <a:pPr marL="0" indent="0" algn="l">
              <a:lnSpc>
                <a:spcPts val="1300"/>
              </a:lnSpc>
              <a:buNone/>
            </a:pPr>
            <a:r>
              <a:rPr lang="en-US" sz="950" dirty="0">
                <a:solidFill>
                  <a:srgbClr val="5B6E8C"/>
                </a:solidFill>
                <a:latin typeface="Manrope" pitchFamily="34" charset="0"/>
                <a:ea typeface="Manrope" pitchFamily="34" charset="-122"/>
                <a:cs typeface="Manrope" pitchFamily="34" charset="-120"/>
              </a:rPr>
              <a:t>OBJECTIVES</a:t>
            </a:r>
            <a:endParaRPr lang="en-US" sz="950" dirty="0"/>
          </a:p>
        </p:txBody>
      </p:sp>
      <p:sp>
        <p:nvSpPr>
          <p:cNvPr id="5" name="Text 2"/>
          <p:cNvSpPr/>
          <p:nvPr/>
        </p:nvSpPr>
        <p:spPr>
          <a:xfrm>
            <a:off x="1918216" y="968097"/>
            <a:ext cx="4139922" cy="488871"/>
          </a:xfrm>
          <a:prstGeom prst="rect">
            <a:avLst/>
          </a:prstGeom>
          <a:noFill/>
          <a:ln/>
        </p:spPr>
        <p:txBody>
          <a:bodyPr wrap="none" lIns="0" tIns="0" rIns="0" bIns="0" rtlCol="0" anchor="t"/>
          <a:lstStyle/>
          <a:p>
            <a:pPr marL="0" indent="0" algn="l">
              <a:lnSpc>
                <a:spcPts val="3800"/>
              </a:lnSpc>
              <a:buNone/>
            </a:pPr>
            <a:r>
              <a:rPr lang="en-US" sz="3050" dirty="0">
                <a:solidFill>
                  <a:srgbClr val="5B6E8C"/>
                </a:solidFill>
                <a:latin typeface="Alexandria Medium" pitchFamily="34" charset="0"/>
                <a:ea typeface="Alexandria Medium" pitchFamily="34" charset="-122"/>
                <a:cs typeface="Alexandria Medium" pitchFamily="34" charset="-120"/>
              </a:rPr>
              <a:t>Seven Key Objectives</a:t>
            </a:r>
            <a:endParaRPr lang="en-US" sz="3050" dirty="0"/>
          </a:p>
        </p:txBody>
      </p:sp>
      <p:sp>
        <p:nvSpPr>
          <p:cNvPr id="6" name="Shape 3"/>
          <p:cNvSpPr/>
          <p:nvPr/>
        </p:nvSpPr>
        <p:spPr>
          <a:xfrm>
            <a:off x="7303651" y="1618774"/>
            <a:ext cx="22860" cy="5948720"/>
          </a:xfrm>
          <a:prstGeom prst="roundRect">
            <a:avLst>
              <a:gd name="adj" fmla="val 1026464"/>
            </a:avLst>
          </a:prstGeom>
          <a:solidFill>
            <a:srgbClr val="B3D5E4"/>
          </a:solidFill>
          <a:ln/>
        </p:spPr>
      </p:sp>
      <p:sp>
        <p:nvSpPr>
          <p:cNvPr id="7" name="Shape 4"/>
          <p:cNvSpPr/>
          <p:nvPr/>
        </p:nvSpPr>
        <p:spPr>
          <a:xfrm>
            <a:off x="6692741" y="1783318"/>
            <a:ext cx="469225" cy="22860"/>
          </a:xfrm>
          <a:prstGeom prst="roundRect">
            <a:avLst>
              <a:gd name="adj" fmla="val 1026464"/>
            </a:avLst>
          </a:prstGeom>
          <a:solidFill>
            <a:srgbClr val="B3D5E4"/>
          </a:solidFill>
          <a:ln/>
        </p:spPr>
      </p:sp>
      <p:sp>
        <p:nvSpPr>
          <p:cNvPr id="8" name="Shape 5"/>
          <p:cNvSpPr/>
          <p:nvPr/>
        </p:nvSpPr>
        <p:spPr>
          <a:xfrm>
            <a:off x="7139107" y="1618774"/>
            <a:ext cx="351949" cy="351949"/>
          </a:xfrm>
          <a:prstGeom prst="roundRect">
            <a:avLst>
              <a:gd name="adj" fmla="val 66671"/>
            </a:avLst>
          </a:prstGeom>
          <a:solidFill>
            <a:srgbClr val="E6F7FF"/>
          </a:solidFill>
          <a:ln w="7620">
            <a:solidFill>
              <a:srgbClr val="B3D5E4"/>
            </a:solidFill>
            <a:prstDash val="solid"/>
          </a:ln>
        </p:spPr>
      </p:sp>
      <p:sp>
        <p:nvSpPr>
          <p:cNvPr id="9" name="Text 6"/>
          <p:cNvSpPr/>
          <p:nvPr/>
        </p:nvSpPr>
        <p:spPr>
          <a:xfrm>
            <a:off x="7197804" y="1648123"/>
            <a:ext cx="234553" cy="293251"/>
          </a:xfrm>
          <a:prstGeom prst="rect">
            <a:avLst/>
          </a:prstGeom>
          <a:noFill/>
          <a:ln/>
        </p:spPr>
        <p:txBody>
          <a:bodyPr wrap="none" lIns="0" tIns="0" rIns="0" bIns="0" rtlCol="0" anchor="t"/>
          <a:lstStyle/>
          <a:p>
            <a:pPr marL="0" indent="0" algn="ctr">
              <a:lnSpc>
                <a:spcPts val="1800"/>
              </a:lnSpc>
              <a:buNone/>
            </a:pPr>
            <a:r>
              <a:rPr lang="en-US" sz="1800" dirty="0">
                <a:solidFill>
                  <a:srgbClr val="000000"/>
                </a:solidFill>
                <a:latin typeface="Alexandria Medium" pitchFamily="34" charset="0"/>
                <a:ea typeface="Alexandria Medium" pitchFamily="34" charset="-122"/>
                <a:cs typeface="Alexandria Medium" pitchFamily="34" charset="-120"/>
              </a:rPr>
              <a:t>1</a:t>
            </a:r>
            <a:endParaRPr lang="en-US" sz="1800" dirty="0"/>
          </a:p>
        </p:txBody>
      </p:sp>
      <p:sp>
        <p:nvSpPr>
          <p:cNvPr id="10" name="Text 7"/>
          <p:cNvSpPr/>
          <p:nvPr/>
        </p:nvSpPr>
        <p:spPr>
          <a:xfrm>
            <a:off x="4577596" y="1672471"/>
            <a:ext cx="1955363" cy="244316"/>
          </a:xfrm>
          <a:prstGeom prst="rect">
            <a:avLst/>
          </a:prstGeom>
          <a:noFill/>
          <a:ln/>
        </p:spPr>
        <p:txBody>
          <a:bodyPr wrap="none" lIns="0" tIns="0" rIns="0" bIns="0" rtlCol="0" anchor="t"/>
          <a:lstStyle/>
          <a:p>
            <a:pPr marL="0" indent="0" algn="r">
              <a:lnSpc>
                <a:spcPts val="1900"/>
              </a:lnSpc>
              <a:buNone/>
            </a:pPr>
            <a:r>
              <a:rPr lang="en-US" sz="1500" dirty="0">
                <a:solidFill>
                  <a:srgbClr val="5B6E8C"/>
                </a:solidFill>
                <a:latin typeface="Alexandria Medium" pitchFamily="34" charset="0"/>
                <a:ea typeface="Alexandria Medium" pitchFamily="34" charset="-122"/>
                <a:cs typeface="Alexandria Medium" pitchFamily="34" charset="-120"/>
              </a:rPr>
              <a:t>Mobile App Design</a:t>
            </a:r>
            <a:endParaRPr lang="en-US" sz="1500" dirty="0"/>
          </a:p>
        </p:txBody>
      </p:sp>
      <p:sp>
        <p:nvSpPr>
          <p:cNvPr id="11" name="Text 8"/>
          <p:cNvSpPr/>
          <p:nvPr/>
        </p:nvSpPr>
        <p:spPr>
          <a:xfrm>
            <a:off x="1918216" y="1981438"/>
            <a:ext cx="4614743" cy="422910"/>
          </a:xfrm>
          <a:prstGeom prst="rect">
            <a:avLst/>
          </a:prstGeom>
          <a:noFill/>
          <a:ln/>
        </p:spPr>
        <p:txBody>
          <a:bodyPr wrap="square" lIns="0" tIns="0" rIns="0" bIns="0" rtlCol="0" anchor="t"/>
          <a:lstStyle/>
          <a:p>
            <a:pPr marL="0" indent="0" algn="r">
              <a:lnSpc>
                <a:spcPts val="1650"/>
              </a:lnSpc>
              <a:buNone/>
            </a:pPr>
            <a:r>
              <a:rPr lang="en-US" sz="1200" dirty="0">
                <a:solidFill>
                  <a:srgbClr val="5B6E8C"/>
                </a:solidFill>
                <a:latin typeface="Manrope" pitchFamily="34" charset="0"/>
                <a:ea typeface="Manrope" pitchFamily="34" charset="-122"/>
                <a:cs typeface="Manrope" pitchFamily="34" charset="-120"/>
              </a:rPr>
              <a:t>Enable emergency reporting with live images, streaming, audio, and GPS location</a:t>
            </a:r>
            <a:endParaRPr lang="en-US" sz="1200" dirty="0"/>
          </a:p>
        </p:txBody>
      </p:sp>
      <p:sp>
        <p:nvSpPr>
          <p:cNvPr id="12" name="Shape 9"/>
          <p:cNvSpPr/>
          <p:nvPr/>
        </p:nvSpPr>
        <p:spPr>
          <a:xfrm>
            <a:off x="7468195" y="2624733"/>
            <a:ext cx="469225" cy="22860"/>
          </a:xfrm>
          <a:prstGeom prst="roundRect">
            <a:avLst>
              <a:gd name="adj" fmla="val 1026464"/>
            </a:avLst>
          </a:prstGeom>
          <a:solidFill>
            <a:srgbClr val="B3D5E4"/>
          </a:solidFill>
          <a:ln/>
        </p:spPr>
      </p:sp>
      <p:sp>
        <p:nvSpPr>
          <p:cNvPr id="13" name="Shape 10"/>
          <p:cNvSpPr/>
          <p:nvPr/>
        </p:nvSpPr>
        <p:spPr>
          <a:xfrm>
            <a:off x="7139107" y="2460188"/>
            <a:ext cx="351949" cy="351949"/>
          </a:xfrm>
          <a:prstGeom prst="roundRect">
            <a:avLst>
              <a:gd name="adj" fmla="val 66671"/>
            </a:avLst>
          </a:prstGeom>
          <a:solidFill>
            <a:srgbClr val="E6F7FF"/>
          </a:solidFill>
          <a:ln w="7620">
            <a:solidFill>
              <a:srgbClr val="B3D5E4"/>
            </a:solidFill>
            <a:prstDash val="solid"/>
          </a:ln>
        </p:spPr>
      </p:sp>
      <p:sp>
        <p:nvSpPr>
          <p:cNvPr id="14" name="Text 11"/>
          <p:cNvSpPr/>
          <p:nvPr/>
        </p:nvSpPr>
        <p:spPr>
          <a:xfrm>
            <a:off x="7197804" y="2489537"/>
            <a:ext cx="234553" cy="293251"/>
          </a:xfrm>
          <a:prstGeom prst="rect">
            <a:avLst/>
          </a:prstGeom>
          <a:noFill/>
          <a:ln/>
        </p:spPr>
        <p:txBody>
          <a:bodyPr wrap="none" lIns="0" tIns="0" rIns="0" bIns="0" rtlCol="0" anchor="t"/>
          <a:lstStyle/>
          <a:p>
            <a:pPr marL="0" indent="0" algn="ctr">
              <a:lnSpc>
                <a:spcPts val="1800"/>
              </a:lnSpc>
              <a:buNone/>
            </a:pPr>
            <a:r>
              <a:rPr lang="en-US" sz="1800" dirty="0">
                <a:solidFill>
                  <a:srgbClr val="000000"/>
                </a:solidFill>
                <a:latin typeface="Alexandria Medium" pitchFamily="34" charset="0"/>
                <a:ea typeface="Alexandria Medium" pitchFamily="34" charset="-122"/>
                <a:cs typeface="Alexandria Medium" pitchFamily="34" charset="-120"/>
              </a:rPr>
              <a:t>2</a:t>
            </a:r>
            <a:endParaRPr lang="en-US" sz="1800" dirty="0"/>
          </a:p>
        </p:txBody>
      </p:sp>
      <p:sp>
        <p:nvSpPr>
          <p:cNvPr id="15" name="Text 12"/>
          <p:cNvSpPr/>
          <p:nvPr/>
        </p:nvSpPr>
        <p:spPr>
          <a:xfrm>
            <a:off x="8097203" y="2513886"/>
            <a:ext cx="1955363" cy="244316"/>
          </a:xfrm>
          <a:prstGeom prst="rect">
            <a:avLst/>
          </a:prstGeom>
          <a:noFill/>
          <a:ln/>
        </p:spPr>
        <p:txBody>
          <a:bodyPr wrap="none" lIns="0" tIns="0" rIns="0" bIns="0" rtlCol="0" anchor="t"/>
          <a:lstStyle/>
          <a:p>
            <a:pPr marL="0" indent="0" algn="l">
              <a:lnSpc>
                <a:spcPts val="1900"/>
              </a:lnSpc>
              <a:buNone/>
            </a:pPr>
            <a:r>
              <a:rPr lang="en-US" sz="1500" dirty="0">
                <a:solidFill>
                  <a:srgbClr val="5B6E8C"/>
                </a:solidFill>
                <a:latin typeface="Alexandria Medium" pitchFamily="34" charset="0"/>
                <a:ea typeface="Alexandria Medium" pitchFamily="34" charset="-122"/>
                <a:cs typeface="Alexandria Medium" pitchFamily="34" charset="-120"/>
              </a:rPr>
              <a:t>Identity Verification</a:t>
            </a:r>
            <a:endParaRPr lang="en-US" sz="1500" dirty="0"/>
          </a:p>
        </p:txBody>
      </p:sp>
      <p:sp>
        <p:nvSpPr>
          <p:cNvPr id="16" name="Text 13"/>
          <p:cNvSpPr/>
          <p:nvPr/>
        </p:nvSpPr>
        <p:spPr>
          <a:xfrm>
            <a:off x="8097203" y="2822853"/>
            <a:ext cx="4614863" cy="211455"/>
          </a:xfrm>
          <a:prstGeom prst="rect">
            <a:avLst/>
          </a:prstGeom>
          <a:noFill/>
          <a:ln/>
        </p:spPr>
        <p:txBody>
          <a:bodyPr wrap="none" lIns="0" tIns="0" rIns="0" bIns="0" rtlCol="0" anchor="t"/>
          <a:lstStyle/>
          <a:p>
            <a:pPr marL="0" indent="0" algn="l">
              <a:lnSpc>
                <a:spcPts val="1650"/>
              </a:lnSpc>
              <a:buNone/>
            </a:pPr>
            <a:r>
              <a:rPr lang="en-US" sz="1200" dirty="0">
                <a:solidFill>
                  <a:srgbClr val="5B6E8C"/>
                </a:solidFill>
                <a:latin typeface="Manrope" pitchFamily="34" charset="0"/>
                <a:ea typeface="Manrope" pitchFamily="34" charset="-122"/>
                <a:cs typeface="Manrope" pitchFamily="34" charset="-120"/>
              </a:rPr>
              <a:t>Implement Ghana Card and national ID system integration</a:t>
            </a:r>
            <a:endParaRPr lang="en-US" sz="1200" dirty="0"/>
          </a:p>
        </p:txBody>
      </p:sp>
      <p:sp>
        <p:nvSpPr>
          <p:cNvPr id="17" name="Shape 14"/>
          <p:cNvSpPr/>
          <p:nvPr/>
        </p:nvSpPr>
        <p:spPr>
          <a:xfrm>
            <a:off x="6692741" y="3385066"/>
            <a:ext cx="469225" cy="22860"/>
          </a:xfrm>
          <a:prstGeom prst="roundRect">
            <a:avLst>
              <a:gd name="adj" fmla="val 1026464"/>
            </a:avLst>
          </a:prstGeom>
          <a:solidFill>
            <a:srgbClr val="B3D5E4"/>
          </a:solidFill>
          <a:ln/>
        </p:spPr>
      </p:sp>
      <p:sp>
        <p:nvSpPr>
          <p:cNvPr id="18" name="Shape 15"/>
          <p:cNvSpPr/>
          <p:nvPr/>
        </p:nvSpPr>
        <p:spPr>
          <a:xfrm>
            <a:off x="7139107" y="3220522"/>
            <a:ext cx="351949" cy="351949"/>
          </a:xfrm>
          <a:prstGeom prst="roundRect">
            <a:avLst>
              <a:gd name="adj" fmla="val 66671"/>
            </a:avLst>
          </a:prstGeom>
          <a:solidFill>
            <a:srgbClr val="E6F7FF"/>
          </a:solidFill>
          <a:ln w="7620">
            <a:solidFill>
              <a:srgbClr val="B3D5E4"/>
            </a:solidFill>
            <a:prstDash val="solid"/>
          </a:ln>
        </p:spPr>
      </p:sp>
      <p:sp>
        <p:nvSpPr>
          <p:cNvPr id="19" name="Text 16"/>
          <p:cNvSpPr/>
          <p:nvPr/>
        </p:nvSpPr>
        <p:spPr>
          <a:xfrm>
            <a:off x="7197804" y="3249870"/>
            <a:ext cx="234553" cy="293251"/>
          </a:xfrm>
          <a:prstGeom prst="rect">
            <a:avLst/>
          </a:prstGeom>
          <a:noFill/>
          <a:ln/>
        </p:spPr>
        <p:txBody>
          <a:bodyPr wrap="none" lIns="0" tIns="0" rIns="0" bIns="0" rtlCol="0" anchor="t"/>
          <a:lstStyle/>
          <a:p>
            <a:pPr marL="0" indent="0" algn="ctr">
              <a:lnSpc>
                <a:spcPts val="1800"/>
              </a:lnSpc>
              <a:buNone/>
            </a:pPr>
            <a:r>
              <a:rPr lang="en-US" sz="1800" dirty="0">
                <a:solidFill>
                  <a:srgbClr val="000000"/>
                </a:solidFill>
                <a:latin typeface="Alexandria Medium" pitchFamily="34" charset="0"/>
                <a:ea typeface="Alexandria Medium" pitchFamily="34" charset="-122"/>
                <a:cs typeface="Alexandria Medium" pitchFamily="34" charset="-120"/>
              </a:rPr>
              <a:t>3</a:t>
            </a:r>
            <a:endParaRPr lang="en-US" sz="1800" dirty="0"/>
          </a:p>
        </p:txBody>
      </p:sp>
      <p:sp>
        <p:nvSpPr>
          <p:cNvPr id="20" name="Text 17"/>
          <p:cNvSpPr/>
          <p:nvPr/>
        </p:nvSpPr>
        <p:spPr>
          <a:xfrm>
            <a:off x="4577596" y="3274219"/>
            <a:ext cx="1955363" cy="244316"/>
          </a:xfrm>
          <a:prstGeom prst="rect">
            <a:avLst/>
          </a:prstGeom>
          <a:noFill/>
          <a:ln/>
        </p:spPr>
        <p:txBody>
          <a:bodyPr wrap="none" lIns="0" tIns="0" rIns="0" bIns="0" rtlCol="0" anchor="t"/>
          <a:lstStyle/>
          <a:p>
            <a:pPr marL="0" indent="0" algn="r">
              <a:lnSpc>
                <a:spcPts val="1900"/>
              </a:lnSpc>
              <a:buNone/>
            </a:pPr>
            <a:r>
              <a:rPr lang="en-US" sz="1500" dirty="0">
                <a:solidFill>
                  <a:srgbClr val="5B6E8C"/>
                </a:solidFill>
                <a:latin typeface="Alexandria Medium" pitchFamily="34" charset="0"/>
                <a:ea typeface="Alexandria Medium" pitchFamily="34" charset="-122"/>
                <a:cs typeface="Alexandria Medium" pitchFamily="34" charset="-120"/>
              </a:rPr>
              <a:t>Agency Dashboard</a:t>
            </a:r>
            <a:endParaRPr lang="en-US" sz="1500" dirty="0"/>
          </a:p>
        </p:txBody>
      </p:sp>
      <p:sp>
        <p:nvSpPr>
          <p:cNvPr id="21" name="Text 18"/>
          <p:cNvSpPr/>
          <p:nvPr/>
        </p:nvSpPr>
        <p:spPr>
          <a:xfrm>
            <a:off x="1918216" y="3583186"/>
            <a:ext cx="4614743" cy="211455"/>
          </a:xfrm>
          <a:prstGeom prst="rect">
            <a:avLst/>
          </a:prstGeom>
          <a:noFill/>
          <a:ln/>
        </p:spPr>
        <p:txBody>
          <a:bodyPr wrap="none" lIns="0" tIns="0" rIns="0" bIns="0" rtlCol="0" anchor="t"/>
          <a:lstStyle/>
          <a:p>
            <a:pPr marL="0" indent="0" algn="r">
              <a:lnSpc>
                <a:spcPts val="1650"/>
              </a:lnSpc>
              <a:buNone/>
            </a:pPr>
            <a:r>
              <a:rPr lang="en-US" sz="1200" dirty="0">
                <a:solidFill>
                  <a:srgbClr val="5B6E8C"/>
                </a:solidFill>
                <a:latin typeface="Manrope" pitchFamily="34" charset="0"/>
                <a:ea typeface="Manrope" pitchFamily="34" charset="-122"/>
                <a:cs typeface="Manrope" pitchFamily="34" charset="-120"/>
              </a:rPr>
              <a:t>Develop secure web interfaces for each security service</a:t>
            </a:r>
            <a:endParaRPr lang="en-US" sz="1200" dirty="0"/>
          </a:p>
        </p:txBody>
      </p:sp>
      <p:sp>
        <p:nvSpPr>
          <p:cNvPr id="22" name="Shape 19"/>
          <p:cNvSpPr/>
          <p:nvPr/>
        </p:nvSpPr>
        <p:spPr>
          <a:xfrm>
            <a:off x="7468195" y="4145518"/>
            <a:ext cx="469225" cy="22860"/>
          </a:xfrm>
          <a:prstGeom prst="roundRect">
            <a:avLst>
              <a:gd name="adj" fmla="val 1026464"/>
            </a:avLst>
          </a:prstGeom>
          <a:solidFill>
            <a:srgbClr val="B3D5E4"/>
          </a:solidFill>
          <a:ln/>
        </p:spPr>
      </p:sp>
      <p:sp>
        <p:nvSpPr>
          <p:cNvPr id="23" name="Shape 20"/>
          <p:cNvSpPr/>
          <p:nvPr/>
        </p:nvSpPr>
        <p:spPr>
          <a:xfrm>
            <a:off x="7139107" y="3980974"/>
            <a:ext cx="351949" cy="351949"/>
          </a:xfrm>
          <a:prstGeom prst="roundRect">
            <a:avLst>
              <a:gd name="adj" fmla="val 66671"/>
            </a:avLst>
          </a:prstGeom>
          <a:solidFill>
            <a:srgbClr val="E6F7FF"/>
          </a:solidFill>
          <a:ln w="7620">
            <a:solidFill>
              <a:srgbClr val="B3D5E4"/>
            </a:solidFill>
            <a:prstDash val="solid"/>
          </a:ln>
        </p:spPr>
      </p:sp>
      <p:sp>
        <p:nvSpPr>
          <p:cNvPr id="24" name="Text 21"/>
          <p:cNvSpPr/>
          <p:nvPr/>
        </p:nvSpPr>
        <p:spPr>
          <a:xfrm>
            <a:off x="7197804" y="4010323"/>
            <a:ext cx="234553" cy="293251"/>
          </a:xfrm>
          <a:prstGeom prst="rect">
            <a:avLst/>
          </a:prstGeom>
          <a:noFill/>
          <a:ln/>
        </p:spPr>
        <p:txBody>
          <a:bodyPr wrap="none" lIns="0" tIns="0" rIns="0" bIns="0" rtlCol="0" anchor="t"/>
          <a:lstStyle/>
          <a:p>
            <a:pPr marL="0" indent="0" algn="ctr">
              <a:lnSpc>
                <a:spcPts val="1800"/>
              </a:lnSpc>
              <a:buNone/>
            </a:pPr>
            <a:r>
              <a:rPr lang="en-US" sz="1800" dirty="0">
                <a:solidFill>
                  <a:srgbClr val="000000"/>
                </a:solidFill>
                <a:latin typeface="Alexandria Medium" pitchFamily="34" charset="0"/>
                <a:ea typeface="Alexandria Medium" pitchFamily="34" charset="-122"/>
                <a:cs typeface="Alexandria Medium" pitchFamily="34" charset="-120"/>
              </a:rPr>
              <a:t>4</a:t>
            </a:r>
            <a:endParaRPr lang="en-US" sz="1800" dirty="0"/>
          </a:p>
        </p:txBody>
      </p:sp>
      <p:sp>
        <p:nvSpPr>
          <p:cNvPr id="25" name="Text 22"/>
          <p:cNvSpPr/>
          <p:nvPr/>
        </p:nvSpPr>
        <p:spPr>
          <a:xfrm>
            <a:off x="8097203" y="4034671"/>
            <a:ext cx="1955363" cy="244316"/>
          </a:xfrm>
          <a:prstGeom prst="rect">
            <a:avLst/>
          </a:prstGeom>
          <a:noFill/>
          <a:ln/>
        </p:spPr>
        <p:txBody>
          <a:bodyPr wrap="none" lIns="0" tIns="0" rIns="0" bIns="0" rtlCol="0" anchor="t"/>
          <a:lstStyle/>
          <a:p>
            <a:pPr marL="0" indent="0" algn="l">
              <a:lnSpc>
                <a:spcPts val="1900"/>
              </a:lnSpc>
              <a:buNone/>
            </a:pPr>
            <a:r>
              <a:rPr lang="en-US" sz="1500" dirty="0">
                <a:solidFill>
                  <a:srgbClr val="5B6E8C"/>
                </a:solidFill>
                <a:latin typeface="Alexandria Medium" pitchFamily="34" charset="0"/>
                <a:ea typeface="Alexandria Medium" pitchFamily="34" charset="-122"/>
                <a:cs typeface="Alexandria Medium" pitchFamily="34" charset="-120"/>
              </a:rPr>
              <a:t>Real-Time Tracking</a:t>
            </a:r>
            <a:endParaRPr lang="en-US" sz="1500" dirty="0"/>
          </a:p>
        </p:txBody>
      </p:sp>
      <p:sp>
        <p:nvSpPr>
          <p:cNvPr id="26" name="Text 23"/>
          <p:cNvSpPr/>
          <p:nvPr/>
        </p:nvSpPr>
        <p:spPr>
          <a:xfrm>
            <a:off x="8097203" y="4343638"/>
            <a:ext cx="4614863" cy="211455"/>
          </a:xfrm>
          <a:prstGeom prst="rect">
            <a:avLst/>
          </a:prstGeom>
          <a:noFill/>
          <a:ln/>
        </p:spPr>
        <p:txBody>
          <a:bodyPr wrap="none" lIns="0" tIns="0" rIns="0" bIns="0" rtlCol="0" anchor="t"/>
          <a:lstStyle/>
          <a:p>
            <a:pPr marL="0" indent="0" algn="l">
              <a:lnSpc>
                <a:spcPts val="1650"/>
              </a:lnSpc>
              <a:buNone/>
            </a:pPr>
            <a:r>
              <a:rPr lang="en-US" sz="1200" dirty="0">
                <a:solidFill>
                  <a:srgbClr val="5B6E8C"/>
                </a:solidFill>
                <a:latin typeface="Manrope" pitchFamily="34" charset="0"/>
                <a:ea typeface="Manrope" pitchFamily="34" charset="-122"/>
                <a:cs typeface="Manrope" pitchFamily="34" charset="-120"/>
              </a:rPr>
              <a:t>Implement incident notification and response monitoring</a:t>
            </a:r>
            <a:endParaRPr lang="en-US" sz="1200" dirty="0"/>
          </a:p>
        </p:txBody>
      </p:sp>
      <p:sp>
        <p:nvSpPr>
          <p:cNvPr id="27" name="Shape 24"/>
          <p:cNvSpPr/>
          <p:nvPr/>
        </p:nvSpPr>
        <p:spPr>
          <a:xfrm>
            <a:off x="6692741" y="4905970"/>
            <a:ext cx="469225" cy="22860"/>
          </a:xfrm>
          <a:prstGeom prst="roundRect">
            <a:avLst>
              <a:gd name="adj" fmla="val 1026464"/>
            </a:avLst>
          </a:prstGeom>
          <a:solidFill>
            <a:srgbClr val="B3D5E4"/>
          </a:solidFill>
          <a:ln/>
        </p:spPr>
      </p:sp>
      <p:sp>
        <p:nvSpPr>
          <p:cNvPr id="28" name="Shape 25"/>
          <p:cNvSpPr/>
          <p:nvPr/>
        </p:nvSpPr>
        <p:spPr>
          <a:xfrm>
            <a:off x="7139107" y="4741426"/>
            <a:ext cx="351949" cy="351949"/>
          </a:xfrm>
          <a:prstGeom prst="roundRect">
            <a:avLst>
              <a:gd name="adj" fmla="val 66671"/>
            </a:avLst>
          </a:prstGeom>
          <a:solidFill>
            <a:srgbClr val="E6F7FF"/>
          </a:solidFill>
          <a:ln w="7620">
            <a:solidFill>
              <a:srgbClr val="B3D5E4"/>
            </a:solidFill>
            <a:prstDash val="solid"/>
          </a:ln>
        </p:spPr>
      </p:sp>
      <p:sp>
        <p:nvSpPr>
          <p:cNvPr id="29" name="Text 26"/>
          <p:cNvSpPr/>
          <p:nvPr/>
        </p:nvSpPr>
        <p:spPr>
          <a:xfrm>
            <a:off x="7197804" y="4770775"/>
            <a:ext cx="234553" cy="293251"/>
          </a:xfrm>
          <a:prstGeom prst="rect">
            <a:avLst/>
          </a:prstGeom>
          <a:noFill/>
          <a:ln/>
        </p:spPr>
        <p:txBody>
          <a:bodyPr wrap="none" lIns="0" tIns="0" rIns="0" bIns="0" rtlCol="0" anchor="t"/>
          <a:lstStyle/>
          <a:p>
            <a:pPr marL="0" indent="0" algn="ctr">
              <a:lnSpc>
                <a:spcPts val="1800"/>
              </a:lnSpc>
              <a:buNone/>
            </a:pPr>
            <a:r>
              <a:rPr lang="en-US" sz="1800" dirty="0">
                <a:solidFill>
                  <a:srgbClr val="000000"/>
                </a:solidFill>
                <a:latin typeface="Alexandria Medium" pitchFamily="34" charset="0"/>
                <a:ea typeface="Alexandria Medium" pitchFamily="34" charset="-122"/>
                <a:cs typeface="Alexandria Medium" pitchFamily="34" charset="-120"/>
              </a:rPr>
              <a:t>5</a:t>
            </a:r>
            <a:endParaRPr lang="en-US" sz="1800" dirty="0"/>
          </a:p>
        </p:txBody>
      </p:sp>
      <p:sp>
        <p:nvSpPr>
          <p:cNvPr id="30" name="Text 27"/>
          <p:cNvSpPr/>
          <p:nvPr/>
        </p:nvSpPr>
        <p:spPr>
          <a:xfrm>
            <a:off x="4577596" y="4795123"/>
            <a:ext cx="1955363" cy="244316"/>
          </a:xfrm>
          <a:prstGeom prst="rect">
            <a:avLst/>
          </a:prstGeom>
          <a:noFill/>
          <a:ln/>
        </p:spPr>
        <p:txBody>
          <a:bodyPr wrap="none" lIns="0" tIns="0" rIns="0" bIns="0" rtlCol="0" anchor="t"/>
          <a:lstStyle/>
          <a:p>
            <a:pPr marL="0" indent="0" algn="r">
              <a:lnSpc>
                <a:spcPts val="1900"/>
              </a:lnSpc>
              <a:buNone/>
            </a:pPr>
            <a:r>
              <a:rPr lang="en-US" sz="1500" dirty="0">
                <a:solidFill>
                  <a:srgbClr val="5B6E8C"/>
                </a:solidFill>
                <a:latin typeface="Alexandria Medium" pitchFamily="34" charset="0"/>
                <a:ea typeface="Alexandria Medium" pitchFamily="34" charset="-122"/>
                <a:cs typeface="Alexandria Medium" pitchFamily="34" charset="-120"/>
              </a:rPr>
              <a:t>Fraud Detection</a:t>
            </a:r>
            <a:endParaRPr lang="en-US" sz="1500" dirty="0"/>
          </a:p>
        </p:txBody>
      </p:sp>
      <p:sp>
        <p:nvSpPr>
          <p:cNvPr id="31" name="Text 28"/>
          <p:cNvSpPr/>
          <p:nvPr/>
        </p:nvSpPr>
        <p:spPr>
          <a:xfrm>
            <a:off x="1918216" y="5104090"/>
            <a:ext cx="4614743" cy="211455"/>
          </a:xfrm>
          <a:prstGeom prst="rect">
            <a:avLst/>
          </a:prstGeom>
          <a:noFill/>
          <a:ln/>
        </p:spPr>
        <p:txBody>
          <a:bodyPr wrap="none" lIns="0" tIns="0" rIns="0" bIns="0" rtlCol="0" anchor="t"/>
          <a:lstStyle/>
          <a:p>
            <a:pPr marL="0" indent="0" algn="r">
              <a:lnSpc>
                <a:spcPts val="1650"/>
              </a:lnSpc>
              <a:buNone/>
            </a:pPr>
            <a:r>
              <a:rPr lang="en-US" sz="1200" dirty="0">
                <a:solidFill>
                  <a:srgbClr val="5B6E8C"/>
                </a:solidFill>
                <a:latin typeface="Manrope" pitchFamily="34" charset="0"/>
                <a:ea typeface="Manrope" pitchFamily="34" charset="-122"/>
                <a:cs typeface="Manrope" pitchFamily="34" charset="-120"/>
              </a:rPr>
              <a:t>Design AI-powered prank and false report detection</a:t>
            </a:r>
            <a:endParaRPr lang="en-US" sz="1200" dirty="0"/>
          </a:p>
        </p:txBody>
      </p:sp>
      <p:sp>
        <p:nvSpPr>
          <p:cNvPr id="32" name="Shape 29"/>
          <p:cNvSpPr/>
          <p:nvPr/>
        </p:nvSpPr>
        <p:spPr>
          <a:xfrm>
            <a:off x="7468195" y="5666423"/>
            <a:ext cx="469225" cy="22860"/>
          </a:xfrm>
          <a:prstGeom prst="roundRect">
            <a:avLst>
              <a:gd name="adj" fmla="val 1026464"/>
            </a:avLst>
          </a:prstGeom>
          <a:solidFill>
            <a:srgbClr val="B3D5E4"/>
          </a:solidFill>
          <a:ln/>
        </p:spPr>
      </p:sp>
      <p:sp>
        <p:nvSpPr>
          <p:cNvPr id="33" name="Shape 30"/>
          <p:cNvSpPr/>
          <p:nvPr/>
        </p:nvSpPr>
        <p:spPr>
          <a:xfrm>
            <a:off x="7139107" y="5501878"/>
            <a:ext cx="351949" cy="351949"/>
          </a:xfrm>
          <a:prstGeom prst="roundRect">
            <a:avLst>
              <a:gd name="adj" fmla="val 66671"/>
            </a:avLst>
          </a:prstGeom>
          <a:solidFill>
            <a:srgbClr val="E6F7FF"/>
          </a:solidFill>
          <a:ln w="7620">
            <a:solidFill>
              <a:srgbClr val="B3D5E4"/>
            </a:solidFill>
            <a:prstDash val="solid"/>
          </a:ln>
        </p:spPr>
      </p:sp>
      <p:sp>
        <p:nvSpPr>
          <p:cNvPr id="34" name="Text 31"/>
          <p:cNvSpPr/>
          <p:nvPr/>
        </p:nvSpPr>
        <p:spPr>
          <a:xfrm>
            <a:off x="7197804" y="5531227"/>
            <a:ext cx="234553" cy="293251"/>
          </a:xfrm>
          <a:prstGeom prst="rect">
            <a:avLst/>
          </a:prstGeom>
          <a:noFill/>
          <a:ln/>
        </p:spPr>
        <p:txBody>
          <a:bodyPr wrap="none" lIns="0" tIns="0" rIns="0" bIns="0" rtlCol="0" anchor="t"/>
          <a:lstStyle/>
          <a:p>
            <a:pPr marL="0" indent="0" algn="ctr">
              <a:lnSpc>
                <a:spcPts val="1800"/>
              </a:lnSpc>
              <a:buNone/>
            </a:pPr>
            <a:r>
              <a:rPr lang="en-US" sz="1800" dirty="0">
                <a:solidFill>
                  <a:srgbClr val="000000"/>
                </a:solidFill>
                <a:latin typeface="Alexandria Medium" pitchFamily="34" charset="0"/>
                <a:ea typeface="Alexandria Medium" pitchFamily="34" charset="-122"/>
                <a:cs typeface="Alexandria Medium" pitchFamily="34" charset="-120"/>
              </a:rPr>
              <a:t>6</a:t>
            </a:r>
            <a:endParaRPr lang="en-US" sz="1800" dirty="0"/>
          </a:p>
        </p:txBody>
      </p:sp>
      <p:sp>
        <p:nvSpPr>
          <p:cNvPr id="35" name="Text 32"/>
          <p:cNvSpPr/>
          <p:nvPr/>
        </p:nvSpPr>
        <p:spPr>
          <a:xfrm>
            <a:off x="8097203" y="5555575"/>
            <a:ext cx="1955363" cy="244316"/>
          </a:xfrm>
          <a:prstGeom prst="rect">
            <a:avLst/>
          </a:prstGeom>
          <a:noFill/>
          <a:ln/>
        </p:spPr>
        <p:txBody>
          <a:bodyPr wrap="none" lIns="0" tIns="0" rIns="0" bIns="0" rtlCol="0" anchor="t"/>
          <a:lstStyle/>
          <a:p>
            <a:pPr marL="0" indent="0" algn="l">
              <a:lnSpc>
                <a:spcPts val="1900"/>
              </a:lnSpc>
              <a:buNone/>
            </a:pPr>
            <a:r>
              <a:rPr lang="en-US" sz="1500" dirty="0">
                <a:solidFill>
                  <a:srgbClr val="5B6E8C"/>
                </a:solidFill>
                <a:latin typeface="Alexandria Medium" pitchFamily="34" charset="0"/>
                <a:ea typeface="Alexandria Medium" pitchFamily="34" charset="-122"/>
                <a:cs typeface="Alexandria Medium" pitchFamily="34" charset="-120"/>
              </a:rPr>
              <a:t>Data Security</a:t>
            </a:r>
            <a:endParaRPr lang="en-US" sz="1500" dirty="0"/>
          </a:p>
        </p:txBody>
      </p:sp>
      <p:sp>
        <p:nvSpPr>
          <p:cNvPr id="36" name="Text 33"/>
          <p:cNvSpPr/>
          <p:nvPr/>
        </p:nvSpPr>
        <p:spPr>
          <a:xfrm>
            <a:off x="8097203" y="5864543"/>
            <a:ext cx="4614863" cy="211455"/>
          </a:xfrm>
          <a:prstGeom prst="rect">
            <a:avLst/>
          </a:prstGeom>
          <a:noFill/>
          <a:ln/>
        </p:spPr>
        <p:txBody>
          <a:bodyPr wrap="none" lIns="0" tIns="0" rIns="0" bIns="0" rtlCol="0" anchor="t"/>
          <a:lstStyle/>
          <a:p>
            <a:pPr marL="0" indent="0" algn="l">
              <a:lnSpc>
                <a:spcPts val="1650"/>
              </a:lnSpc>
              <a:buNone/>
            </a:pPr>
            <a:r>
              <a:rPr lang="en-US" sz="1200" dirty="0">
                <a:solidFill>
                  <a:srgbClr val="5B6E8C"/>
                </a:solidFill>
                <a:latin typeface="Manrope" pitchFamily="34" charset="0"/>
                <a:ea typeface="Manrope" pitchFamily="34" charset="-122"/>
                <a:cs typeface="Manrope" pitchFamily="34" charset="-120"/>
              </a:rPr>
              <a:t>Ensure compliance with Ghana's Data Protection Act</a:t>
            </a:r>
            <a:endParaRPr lang="en-US" sz="1200" dirty="0"/>
          </a:p>
        </p:txBody>
      </p:sp>
      <p:sp>
        <p:nvSpPr>
          <p:cNvPr id="37" name="Shape 34"/>
          <p:cNvSpPr/>
          <p:nvPr/>
        </p:nvSpPr>
        <p:spPr>
          <a:xfrm>
            <a:off x="6692741" y="6426875"/>
            <a:ext cx="469225" cy="22860"/>
          </a:xfrm>
          <a:prstGeom prst="roundRect">
            <a:avLst>
              <a:gd name="adj" fmla="val 1026464"/>
            </a:avLst>
          </a:prstGeom>
          <a:solidFill>
            <a:srgbClr val="B3D5E4"/>
          </a:solidFill>
          <a:ln/>
        </p:spPr>
      </p:sp>
      <p:sp>
        <p:nvSpPr>
          <p:cNvPr id="38" name="Shape 35"/>
          <p:cNvSpPr/>
          <p:nvPr/>
        </p:nvSpPr>
        <p:spPr>
          <a:xfrm>
            <a:off x="7139107" y="6262330"/>
            <a:ext cx="351949" cy="351949"/>
          </a:xfrm>
          <a:prstGeom prst="roundRect">
            <a:avLst>
              <a:gd name="adj" fmla="val 66671"/>
            </a:avLst>
          </a:prstGeom>
          <a:solidFill>
            <a:srgbClr val="E6F7FF"/>
          </a:solidFill>
          <a:ln w="7620">
            <a:solidFill>
              <a:srgbClr val="B3D5E4"/>
            </a:solidFill>
            <a:prstDash val="solid"/>
          </a:ln>
        </p:spPr>
      </p:sp>
      <p:sp>
        <p:nvSpPr>
          <p:cNvPr id="39" name="Text 36"/>
          <p:cNvSpPr/>
          <p:nvPr/>
        </p:nvSpPr>
        <p:spPr>
          <a:xfrm>
            <a:off x="7197804" y="6291679"/>
            <a:ext cx="234553" cy="293251"/>
          </a:xfrm>
          <a:prstGeom prst="rect">
            <a:avLst/>
          </a:prstGeom>
          <a:noFill/>
          <a:ln/>
        </p:spPr>
        <p:txBody>
          <a:bodyPr wrap="none" lIns="0" tIns="0" rIns="0" bIns="0" rtlCol="0" anchor="t"/>
          <a:lstStyle/>
          <a:p>
            <a:pPr marL="0" indent="0" algn="ctr">
              <a:lnSpc>
                <a:spcPts val="1800"/>
              </a:lnSpc>
              <a:buNone/>
            </a:pPr>
            <a:r>
              <a:rPr lang="en-US" sz="1800" dirty="0">
                <a:solidFill>
                  <a:srgbClr val="000000"/>
                </a:solidFill>
                <a:latin typeface="Alexandria Medium" pitchFamily="34" charset="0"/>
                <a:ea typeface="Alexandria Medium" pitchFamily="34" charset="-122"/>
                <a:cs typeface="Alexandria Medium" pitchFamily="34" charset="-120"/>
              </a:rPr>
              <a:t>7</a:t>
            </a:r>
            <a:endParaRPr lang="en-US" sz="1800" dirty="0"/>
          </a:p>
        </p:txBody>
      </p:sp>
      <p:sp>
        <p:nvSpPr>
          <p:cNvPr id="40" name="Text 37"/>
          <p:cNvSpPr/>
          <p:nvPr/>
        </p:nvSpPr>
        <p:spPr>
          <a:xfrm>
            <a:off x="4577596" y="6316028"/>
            <a:ext cx="1955363" cy="244316"/>
          </a:xfrm>
          <a:prstGeom prst="rect">
            <a:avLst/>
          </a:prstGeom>
          <a:noFill/>
          <a:ln/>
        </p:spPr>
        <p:txBody>
          <a:bodyPr wrap="none" lIns="0" tIns="0" rIns="0" bIns="0" rtlCol="0" anchor="t"/>
          <a:lstStyle/>
          <a:p>
            <a:pPr marL="0" indent="0" algn="r">
              <a:lnSpc>
                <a:spcPts val="1900"/>
              </a:lnSpc>
              <a:buNone/>
            </a:pPr>
            <a:r>
              <a:rPr lang="en-US" sz="1500" dirty="0">
                <a:solidFill>
                  <a:srgbClr val="5B6E8C"/>
                </a:solidFill>
                <a:latin typeface="Alexandria Medium" pitchFamily="34" charset="0"/>
                <a:ea typeface="Alexandria Medium" pitchFamily="34" charset="-122"/>
                <a:cs typeface="Alexandria Medium" pitchFamily="34" charset="-120"/>
              </a:rPr>
              <a:t>System Evaluation</a:t>
            </a:r>
            <a:endParaRPr lang="en-US" sz="1500" dirty="0"/>
          </a:p>
        </p:txBody>
      </p:sp>
      <p:sp>
        <p:nvSpPr>
          <p:cNvPr id="41" name="Text 38"/>
          <p:cNvSpPr/>
          <p:nvPr/>
        </p:nvSpPr>
        <p:spPr>
          <a:xfrm>
            <a:off x="1918216" y="6624995"/>
            <a:ext cx="4614743" cy="211455"/>
          </a:xfrm>
          <a:prstGeom prst="rect">
            <a:avLst/>
          </a:prstGeom>
          <a:noFill/>
          <a:ln/>
        </p:spPr>
        <p:txBody>
          <a:bodyPr wrap="none" lIns="0" tIns="0" rIns="0" bIns="0" rtlCol="0" anchor="t"/>
          <a:lstStyle/>
          <a:p>
            <a:pPr marL="0" indent="0" algn="r">
              <a:lnSpc>
                <a:spcPts val="1650"/>
              </a:lnSpc>
              <a:buNone/>
            </a:pPr>
            <a:r>
              <a:rPr lang="en-US" sz="1200" dirty="0">
                <a:solidFill>
                  <a:srgbClr val="5B6E8C"/>
                </a:solidFill>
                <a:latin typeface="Manrope" pitchFamily="34" charset="0"/>
                <a:ea typeface="Manrope" pitchFamily="34" charset="-122"/>
                <a:cs typeface="Manrope" pitchFamily="34" charset="-120"/>
              </a:rPr>
              <a:t>Test performance, usability, and reliability thoroughly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242185" y="937974"/>
            <a:ext cx="3774758" cy="459581"/>
          </a:xfrm>
          <a:prstGeom prst="rect">
            <a:avLst/>
          </a:prstGeom>
          <a:noFill/>
          <a:ln/>
        </p:spPr>
        <p:txBody>
          <a:bodyPr wrap="none" lIns="0" tIns="0" rIns="0" bIns="0" rtlCol="0" anchor="t"/>
          <a:lstStyle/>
          <a:p>
            <a:pPr marL="0" indent="0" algn="l">
              <a:lnSpc>
                <a:spcPts val="3600"/>
              </a:lnSpc>
              <a:buNone/>
            </a:pPr>
            <a:r>
              <a:rPr lang="en-US" sz="2850" dirty="0">
                <a:solidFill>
                  <a:srgbClr val="5B6E8C"/>
                </a:solidFill>
                <a:latin typeface="Alexandria Medium" pitchFamily="34" charset="0"/>
                <a:ea typeface="Alexandria Medium" pitchFamily="34" charset="-122"/>
                <a:cs typeface="Alexandria Medium" pitchFamily="34" charset="-120"/>
              </a:rPr>
              <a:t>System Architecture</a:t>
            </a:r>
            <a:endParaRPr lang="en-US" sz="2850" dirty="0"/>
          </a:p>
        </p:txBody>
      </p:sp>
      <p:pic>
        <p:nvPicPr>
          <p:cNvPr id="3" name="Image 0" descr="preencoded.png"/>
          <p:cNvPicPr>
            <a:picLocks noChangeAspect="1"/>
          </p:cNvPicPr>
          <p:nvPr/>
        </p:nvPicPr>
        <p:blipFill>
          <a:blip r:embed="rId3"/>
          <a:stretch>
            <a:fillRect/>
          </a:stretch>
        </p:blipFill>
        <p:spPr>
          <a:xfrm>
            <a:off x="2242185" y="2699028"/>
            <a:ext cx="6469261" cy="2960608"/>
          </a:xfrm>
          <a:prstGeom prst="rect">
            <a:avLst/>
          </a:prstGeom>
        </p:spPr>
      </p:pic>
      <p:sp>
        <p:nvSpPr>
          <p:cNvPr id="4" name="Text 1"/>
          <p:cNvSpPr/>
          <p:nvPr/>
        </p:nvSpPr>
        <p:spPr>
          <a:xfrm>
            <a:off x="6980936" y="3099509"/>
            <a:ext cx="1474189" cy="178882"/>
          </a:xfrm>
          <a:prstGeom prst="rect">
            <a:avLst/>
          </a:prstGeom>
          <a:noFill/>
          <a:ln/>
        </p:spPr>
        <p:txBody>
          <a:bodyPr wrap="none" lIns="0" tIns="0" rIns="0" bIns="0" rtlCol="0" anchor="t"/>
          <a:lstStyle/>
          <a:p>
            <a:pPr marL="0" indent="0" algn="l">
              <a:lnSpc>
                <a:spcPts val="1400"/>
              </a:lnSpc>
              <a:buNone/>
            </a:pPr>
            <a:r>
              <a:rPr lang="en-US" sz="1100" dirty="0">
                <a:solidFill>
                  <a:srgbClr val="5B6E8C"/>
                </a:solidFill>
                <a:latin typeface="Alexandria Medium" pitchFamily="34" charset="0"/>
                <a:ea typeface="Alexandria Medium" pitchFamily="34" charset="-122"/>
                <a:cs typeface="Alexandria Medium" pitchFamily="34" charset="-120"/>
              </a:rPr>
              <a:t>Outer: Mobile &amp; Web</a:t>
            </a:r>
            <a:endParaRPr lang="en-US" sz="1100" dirty="0"/>
          </a:p>
        </p:txBody>
      </p:sp>
      <p:sp>
        <p:nvSpPr>
          <p:cNvPr id="5" name="Text 2"/>
          <p:cNvSpPr/>
          <p:nvPr/>
        </p:nvSpPr>
        <p:spPr>
          <a:xfrm>
            <a:off x="6980936" y="3329274"/>
            <a:ext cx="1577344" cy="235727"/>
          </a:xfrm>
          <a:prstGeom prst="rect">
            <a:avLst/>
          </a:prstGeom>
          <a:noFill/>
          <a:ln/>
        </p:spPr>
        <p:txBody>
          <a:bodyPr wrap="square" lIns="0" tIns="0" rIns="0" bIns="0" rtlCol="0" anchor="t"/>
          <a:lstStyle/>
          <a:p>
            <a:pPr marL="0" indent="0" algn="l">
              <a:lnSpc>
                <a:spcPts val="900"/>
              </a:lnSpc>
              <a:buNone/>
            </a:pPr>
            <a:r>
              <a:rPr lang="en-US" sz="900" dirty="0">
                <a:solidFill>
                  <a:srgbClr val="5B6E8C"/>
                </a:solidFill>
                <a:latin typeface="Manrope" pitchFamily="34" charset="0"/>
                <a:ea typeface="Manrope" pitchFamily="34" charset="-122"/>
                <a:cs typeface="Manrope" pitchFamily="34" charset="-120"/>
              </a:rPr>
              <a:t>Citizen apps and agency dashboards</a:t>
            </a:r>
            <a:endParaRPr lang="en-US" sz="900" dirty="0"/>
          </a:p>
        </p:txBody>
      </p:sp>
      <p:sp>
        <p:nvSpPr>
          <p:cNvPr id="6" name="Text 3"/>
          <p:cNvSpPr/>
          <p:nvPr/>
        </p:nvSpPr>
        <p:spPr>
          <a:xfrm>
            <a:off x="2395190" y="3983188"/>
            <a:ext cx="1450139" cy="357765"/>
          </a:xfrm>
          <a:prstGeom prst="rect">
            <a:avLst/>
          </a:prstGeom>
          <a:noFill/>
          <a:ln/>
        </p:spPr>
        <p:txBody>
          <a:bodyPr wrap="square" lIns="0" tIns="0" rIns="0" bIns="0" rtlCol="0" anchor="t"/>
          <a:lstStyle/>
          <a:p>
            <a:pPr marL="0" indent="0" algn="r">
              <a:lnSpc>
                <a:spcPts val="1400"/>
              </a:lnSpc>
              <a:buNone/>
            </a:pPr>
            <a:r>
              <a:rPr lang="en-US" sz="1100" dirty="0">
                <a:solidFill>
                  <a:srgbClr val="5B6E8C"/>
                </a:solidFill>
                <a:latin typeface="Alexandria Medium" pitchFamily="34" charset="0"/>
                <a:ea typeface="Alexandria Medium" pitchFamily="34" charset="-122"/>
                <a:cs typeface="Alexandria Medium" pitchFamily="34" charset="-120"/>
              </a:rPr>
              <a:t>Mid: Backend &amp; Database</a:t>
            </a:r>
            <a:endParaRPr lang="en-US" sz="1100" dirty="0"/>
          </a:p>
        </p:txBody>
      </p:sp>
      <p:sp>
        <p:nvSpPr>
          <p:cNvPr id="7" name="Text 4"/>
          <p:cNvSpPr/>
          <p:nvPr/>
        </p:nvSpPr>
        <p:spPr>
          <a:xfrm>
            <a:off x="2395190" y="4391834"/>
            <a:ext cx="1450139" cy="235727"/>
          </a:xfrm>
          <a:prstGeom prst="rect">
            <a:avLst/>
          </a:prstGeom>
          <a:noFill/>
          <a:ln/>
        </p:spPr>
        <p:txBody>
          <a:bodyPr wrap="square" lIns="0" tIns="0" rIns="0" bIns="0" rtlCol="0" anchor="t"/>
          <a:lstStyle/>
          <a:p>
            <a:pPr marL="0" indent="0" algn="r">
              <a:lnSpc>
                <a:spcPts val="900"/>
              </a:lnSpc>
              <a:buNone/>
            </a:pPr>
            <a:r>
              <a:rPr lang="en-US" sz="900" dirty="0">
                <a:solidFill>
                  <a:srgbClr val="5B6E8C"/>
                </a:solidFill>
                <a:latin typeface="Manrope" pitchFamily="34" charset="0"/>
                <a:ea typeface="Manrope" pitchFamily="34" charset="-122"/>
                <a:cs typeface="Manrope" pitchFamily="34" charset="-120"/>
              </a:rPr>
              <a:t>APIs, business logic, and persistent storage</a:t>
            </a:r>
            <a:endParaRPr lang="en-US" sz="900" dirty="0"/>
          </a:p>
        </p:txBody>
      </p:sp>
      <p:sp>
        <p:nvSpPr>
          <p:cNvPr id="8" name="Text 5"/>
          <p:cNvSpPr/>
          <p:nvPr/>
        </p:nvSpPr>
        <p:spPr>
          <a:xfrm>
            <a:off x="6980936" y="4485648"/>
            <a:ext cx="1577344" cy="357765"/>
          </a:xfrm>
          <a:prstGeom prst="rect">
            <a:avLst/>
          </a:prstGeom>
          <a:noFill/>
          <a:ln/>
        </p:spPr>
        <p:txBody>
          <a:bodyPr wrap="square" lIns="0" tIns="0" rIns="0" bIns="0" rtlCol="0" anchor="t"/>
          <a:lstStyle/>
          <a:p>
            <a:pPr marL="0" indent="0" algn="l">
              <a:lnSpc>
                <a:spcPts val="1400"/>
              </a:lnSpc>
              <a:buNone/>
            </a:pPr>
            <a:r>
              <a:rPr lang="en-US" sz="1100" dirty="0">
                <a:solidFill>
                  <a:srgbClr val="5B6E8C"/>
                </a:solidFill>
                <a:latin typeface="Alexandria Medium" pitchFamily="34" charset="0"/>
                <a:ea typeface="Alexandria Medium" pitchFamily="34" charset="-122"/>
                <a:cs typeface="Alexandria Medium" pitchFamily="34" charset="-120"/>
              </a:rPr>
              <a:t>Core: AI Fraud Detection</a:t>
            </a:r>
            <a:endParaRPr lang="en-US" sz="1100" dirty="0"/>
          </a:p>
        </p:txBody>
      </p:sp>
      <p:sp>
        <p:nvSpPr>
          <p:cNvPr id="9" name="Text 6"/>
          <p:cNvSpPr/>
          <p:nvPr/>
        </p:nvSpPr>
        <p:spPr>
          <a:xfrm>
            <a:off x="6980936" y="4894295"/>
            <a:ext cx="1577344" cy="235727"/>
          </a:xfrm>
          <a:prstGeom prst="rect">
            <a:avLst/>
          </a:prstGeom>
          <a:noFill/>
          <a:ln/>
        </p:spPr>
        <p:txBody>
          <a:bodyPr wrap="square" lIns="0" tIns="0" rIns="0" bIns="0" rtlCol="0" anchor="t"/>
          <a:lstStyle/>
          <a:p>
            <a:pPr marL="0" indent="0" algn="l">
              <a:lnSpc>
                <a:spcPts val="900"/>
              </a:lnSpc>
              <a:buNone/>
            </a:pPr>
            <a:r>
              <a:rPr lang="en-US" sz="900" dirty="0">
                <a:solidFill>
                  <a:srgbClr val="5B6E8C"/>
                </a:solidFill>
                <a:latin typeface="Manrope" pitchFamily="34" charset="0"/>
                <a:ea typeface="Manrope" pitchFamily="34" charset="-122"/>
                <a:cs typeface="Manrope" pitchFamily="34" charset="-120"/>
              </a:rPr>
              <a:t>Real-time anomaly detection and alerts</a:t>
            </a:r>
            <a:endParaRPr lang="en-US" sz="900" dirty="0"/>
          </a:p>
        </p:txBody>
      </p:sp>
      <p:sp>
        <p:nvSpPr>
          <p:cNvPr id="10" name="Text 7"/>
          <p:cNvSpPr/>
          <p:nvPr/>
        </p:nvSpPr>
        <p:spPr>
          <a:xfrm>
            <a:off x="2242185" y="5766792"/>
            <a:ext cx="6469261" cy="387668"/>
          </a:xfrm>
          <a:prstGeom prst="rect">
            <a:avLst/>
          </a:prstGeom>
          <a:noFill/>
          <a:ln/>
        </p:spPr>
        <p:txBody>
          <a:bodyPr wrap="square" lIns="0" tIns="0" rIns="0" bIns="0" rtlCol="0" anchor="t"/>
          <a:lstStyle/>
          <a:p>
            <a:pPr marL="0" indent="0" algn="l">
              <a:lnSpc>
                <a:spcPts val="1500"/>
              </a:lnSpc>
              <a:buNone/>
            </a:pPr>
            <a:r>
              <a:rPr lang="en-US" sz="1150" dirty="0">
                <a:solidFill>
                  <a:srgbClr val="5B6E8C"/>
                </a:solidFill>
                <a:latin typeface="Manrope" pitchFamily="34" charset="0"/>
                <a:ea typeface="Manrope" pitchFamily="34" charset="-122"/>
                <a:cs typeface="Manrope" pitchFamily="34" charset="-120"/>
              </a:rPr>
              <a:t>The platform uses a multi-layered architecture ensuring scalability, security, and seamless integration across all emergency services.</a:t>
            </a:r>
            <a:endParaRPr lang="en-US" sz="1150" dirty="0"/>
          </a:p>
        </p:txBody>
      </p:sp>
      <p:sp>
        <p:nvSpPr>
          <p:cNvPr id="11" name="Shape 8"/>
          <p:cNvSpPr/>
          <p:nvPr/>
        </p:nvSpPr>
        <p:spPr>
          <a:xfrm>
            <a:off x="9077682" y="1647587"/>
            <a:ext cx="3317915" cy="843439"/>
          </a:xfrm>
          <a:prstGeom prst="roundRect">
            <a:avLst>
              <a:gd name="adj" fmla="val 26151"/>
            </a:avLst>
          </a:prstGeom>
          <a:solidFill>
            <a:srgbClr val="FFFFFF"/>
          </a:solidFill>
          <a:ln w="15240">
            <a:solidFill>
              <a:srgbClr val="B3D5E4"/>
            </a:solidFill>
            <a:prstDash val="solid"/>
          </a:ln>
        </p:spPr>
      </p:sp>
      <p:sp>
        <p:nvSpPr>
          <p:cNvPr id="12" name="Text 9"/>
          <p:cNvSpPr/>
          <p:nvPr/>
        </p:nvSpPr>
        <p:spPr>
          <a:xfrm>
            <a:off x="9239964" y="1809869"/>
            <a:ext cx="1837968" cy="229791"/>
          </a:xfrm>
          <a:prstGeom prst="rect">
            <a:avLst/>
          </a:prstGeom>
          <a:noFill/>
          <a:ln/>
        </p:spPr>
        <p:txBody>
          <a:bodyPr wrap="none" lIns="0" tIns="0" rIns="0" bIns="0" rtlCol="0" anchor="t"/>
          <a:lstStyle/>
          <a:p>
            <a:pPr marL="0" indent="0" algn="l">
              <a:lnSpc>
                <a:spcPts val="1800"/>
              </a:lnSpc>
              <a:buNone/>
            </a:pPr>
            <a:r>
              <a:rPr lang="en-US" sz="1400" dirty="0">
                <a:solidFill>
                  <a:srgbClr val="5B6E8C"/>
                </a:solidFill>
                <a:latin typeface="Alexandria Medium" pitchFamily="34" charset="0"/>
                <a:ea typeface="Alexandria Medium" pitchFamily="34" charset="-122"/>
                <a:cs typeface="Alexandria Medium" pitchFamily="34" charset="-120"/>
              </a:rPr>
              <a:t>Mobile Layer</a:t>
            </a:r>
            <a:endParaRPr lang="en-US" sz="1400" dirty="0"/>
          </a:p>
        </p:txBody>
      </p:sp>
      <p:sp>
        <p:nvSpPr>
          <p:cNvPr id="13" name="Text 10"/>
          <p:cNvSpPr/>
          <p:nvPr/>
        </p:nvSpPr>
        <p:spPr>
          <a:xfrm>
            <a:off x="9239964" y="2134910"/>
            <a:ext cx="2993350" cy="193834"/>
          </a:xfrm>
          <a:prstGeom prst="rect">
            <a:avLst/>
          </a:prstGeom>
          <a:noFill/>
          <a:ln/>
        </p:spPr>
        <p:txBody>
          <a:bodyPr wrap="none" lIns="0" tIns="0" rIns="0" bIns="0" rtlCol="0" anchor="t"/>
          <a:lstStyle/>
          <a:p>
            <a:pPr marL="0" indent="0" algn="l">
              <a:lnSpc>
                <a:spcPts val="1500"/>
              </a:lnSpc>
              <a:buNone/>
            </a:pPr>
            <a:r>
              <a:rPr lang="en-US" sz="1150" dirty="0">
                <a:solidFill>
                  <a:srgbClr val="5B6E8C"/>
                </a:solidFill>
                <a:latin typeface="Manrope" pitchFamily="34" charset="0"/>
                <a:ea typeface="Manrope" pitchFamily="34" charset="-122"/>
                <a:cs typeface="Manrope" pitchFamily="34" charset="-120"/>
              </a:rPr>
              <a:t>Android &amp; iOS apps for citizens</a:t>
            </a:r>
            <a:endParaRPr lang="en-US" sz="1150" dirty="0"/>
          </a:p>
        </p:txBody>
      </p:sp>
      <p:sp>
        <p:nvSpPr>
          <p:cNvPr id="14" name="Shape 11"/>
          <p:cNvSpPr/>
          <p:nvPr/>
        </p:nvSpPr>
        <p:spPr>
          <a:xfrm>
            <a:off x="9077682" y="2586276"/>
            <a:ext cx="3317915" cy="843439"/>
          </a:xfrm>
          <a:prstGeom prst="roundRect">
            <a:avLst>
              <a:gd name="adj" fmla="val 26151"/>
            </a:avLst>
          </a:prstGeom>
          <a:solidFill>
            <a:srgbClr val="FFFFFF"/>
          </a:solidFill>
          <a:ln w="15240">
            <a:solidFill>
              <a:srgbClr val="B3D5E4"/>
            </a:solidFill>
            <a:prstDash val="solid"/>
          </a:ln>
        </p:spPr>
      </p:sp>
      <p:sp>
        <p:nvSpPr>
          <p:cNvPr id="15" name="Text 12"/>
          <p:cNvSpPr/>
          <p:nvPr/>
        </p:nvSpPr>
        <p:spPr>
          <a:xfrm>
            <a:off x="9239964" y="2748558"/>
            <a:ext cx="1837968" cy="229791"/>
          </a:xfrm>
          <a:prstGeom prst="rect">
            <a:avLst/>
          </a:prstGeom>
          <a:noFill/>
          <a:ln/>
        </p:spPr>
        <p:txBody>
          <a:bodyPr wrap="none" lIns="0" tIns="0" rIns="0" bIns="0" rtlCol="0" anchor="t"/>
          <a:lstStyle/>
          <a:p>
            <a:pPr marL="0" indent="0" algn="l">
              <a:lnSpc>
                <a:spcPts val="1800"/>
              </a:lnSpc>
              <a:buNone/>
            </a:pPr>
            <a:r>
              <a:rPr lang="en-US" sz="1400" dirty="0">
                <a:solidFill>
                  <a:srgbClr val="5B6E8C"/>
                </a:solidFill>
                <a:latin typeface="Alexandria Medium" pitchFamily="34" charset="0"/>
                <a:ea typeface="Alexandria Medium" pitchFamily="34" charset="-122"/>
                <a:cs typeface="Alexandria Medium" pitchFamily="34" charset="-120"/>
              </a:rPr>
              <a:t>Web Layer</a:t>
            </a:r>
            <a:endParaRPr lang="en-US" sz="1400" dirty="0"/>
          </a:p>
        </p:txBody>
      </p:sp>
      <p:sp>
        <p:nvSpPr>
          <p:cNvPr id="16" name="Text 13"/>
          <p:cNvSpPr/>
          <p:nvPr/>
        </p:nvSpPr>
        <p:spPr>
          <a:xfrm>
            <a:off x="9239964" y="3073598"/>
            <a:ext cx="2993350" cy="193834"/>
          </a:xfrm>
          <a:prstGeom prst="rect">
            <a:avLst/>
          </a:prstGeom>
          <a:noFill/>
          <a:ln/>
        </p:spPr>
        <p:txBody>
          <a:bodyPr wrap="none" lIns="0" tIns="0" rIns="0" bIns="0" rtlCol="0" anchor="t"/>
          <a:lstStyle/>
          <a:p>
            <a:pPr marL="0" indent="0" algn="l">
              <a:lnSpc>
                <a:spcPts val="1500"/>
              </a:lnSpc>
              <a:buNone/>
            </a:pPr>
            <a:r>
              <a:rPr lang="en-US" sz="1150" dirty="0">
                <a:solidFill>
                  <a:srgbClr val="5B6E8C"/>
                </a:solidFill>
                <a:latin typeface="Manrope" pitchFamily="34" charset="0"/>
                <a:ea typeface="Manrope" pitchFamily="34" charset="-122"/>
                <a:cs typeface="Manrope" pitchFamily="34" charset="-120"/>
              </a:rPr>
              <a:t>Agency-specific dashboards</a:t>
            </a:r>
            <a:endParaRPr lang="en-US" sz="1150" dirty="0"/>
          </a:p>
        </p:txBody>
      </p:sp>
      <p:sp>
        <p:nvSpPr>
          <p:cNvPr id="17" name="Shape 14"/>
          <p:cNvSpPr/>
          <p:nvPr/>
        </p:nvSpPr>
        <p:spPr>
          <a:xfrm>
            <a:off x="9077682" y="3524964"/>
            <a:ext cx="3317915" cy="843439"/>
          </a:xfrm>
          <a:prstGeom prst="roundRect">
            <a:avLst>
              <a:gd name="adj" fmla="val 26151"/>
            </a:avLst>
          </a:prstGeom>
          <a:solidFill>
            <a:srgbClr val="FFFFFF"/>
          </a:solidFill>
          <a:ln w="15240">
            <a:solidFill>
              <a:srgbClr val="B3D5E4"/>
            </a:solidFill>
            <a:prstDash val="solid"/>
          </a:ln>
        </p:spPr>
      </p:sp>
      <p:sp>
        <p:nvSpPr>
          <p:cNvPr id="18" name="Text 15"/>
          <p:cNvSpPr/>
          <p:nvPr/>
        </p:nvSpPr>
        <p:spPr>
          <a:xfrm>
            <a:off x="9239964" y="3687247"/>
            <a:ext cx="1837968" cy="229791"/>
          </a:xfrm>
          <a:prstGeom prst="rect">
            <a:avLst/>
          </a:prstGeom>
          <a:noFill/>
          <a:ln/>
        </p:spPr>
        <p:txBody>
          <a:bodyPr wrap="none" lIns="0" tIns="0" rIns="0" bIns="0" rtlCol="0" anchor="t"/>
          <a:lstStyle/>
          <a:p>
            <a:pPr marL="0" indent="0" algn="l">
              <a:lnSpc>
                <a:spcPts val="1800"/>
              </a:lnSpc>
              <a:buNone/>
            </a:pPr>
            <a:r>
              <a:rPr lang="en-US" sz="1400" dirty="0">
                <a:solidFill>
                  <a:srgbClr val="5B6E8C"/>
                </a:solidFill>
                <a:latin typeface="Alexandria Medium" pitchFamily="34" charset="0"/>
                <a:ea typeface="Alexandria Medium" pitchFamily="34" charset="-122"/>
                <a:cs typeface="Alexandria Medium" pitchFamily="34" charset="-120"/>
              </a:rPr>
              <a:t>API Layer</a:t>
            </a:r>
            <a:endParaRPr lang="en-US" sz="1400" dirty="0"/>
          </a:p>
        </p:txBody>
      </p:sp>
      <p:sp>
        <p:nvSpPr>
          <p:cNvPr id="19" name="Text 16"/>
          <p:cNvSpPr/>
          <p:nvPr/>
        </p:nvSpPr>
        <p:spPr>
          <a:xfrm>
            <a:off x="9239964" y="4012287"/>
            <a:ext cx="2993350" cy="193834"/>
          </a:xfrm>
          <a:prstGeom prst="rect">
            <a:avLst/>
          </a:prstGeom>
          <a:noFill/>
          <a:ln/>
        </p:spPr>
        <p:txBody>
          <a:bodyPr wrap="none" lIns="0" tIns="0" rIns="0" bIns="0" rtlCol="0" anchor="t"/>
          <a:lstStyle/>
          <a:p>
            <a:pPr marL="0" indent="0" algn="l">
              <a:lnSpc>
                <a:spcPts val="1500"/>
              </a:lnSpc>
              <a:buNone/>
            </a:pPr>
            <a:r>
              <a:rPr lang="en-US" sz="1150" dirty="0">
                <a:solidFill>
                  <a:srgbClr val="5B6E8C"/>
                </a:solidFill>
                <a:latin typeface="Manrope" pitchFamily="34" charset="0"/>
                <a:ea typeface="Manrope" pitchFamily="34" charset="-122"/>
                <a:cs typeface="Manrope" pitchFamily="34" charset="-120"/>
              </a:rPr>
              <a:t>Backend services and routing</a:t>
            </a:r>
            <a:endParaRPr lang="en-US" sz="1150" dirty="0"/>
          </a:p>
        </p:txBody>
      </p:sp>
      <p:sp>
        <p:nvSpPr>
          <p:cNvPr id="20" name="Shape 17"/>
          <p:cNvSpPr/>
          <p:nvPr/>
        </p:nvSpPr>
        <p:spPr>
          <a:xfrm>
            <a:off x="9077682" y="4463653"/>
            <a:ext cx="3317915" cy="843439"/>
          </a:xfrm>
          <a:prstGeom prst="roundRect">
            <a:avLst>
              <a:gd name="adj" fmla="val 26151"/>
            </a:avLst>
          </a:prstGeom>
          <a:solidFill>
            <a:srgbClr val="FFFFFF"/>
          </a:solidFill>
          <a:ln w="15240">
            <a:solidFill>
              <a:srgbClr val="B3D5E4"/>
            </a:solidFill>
            <a:prstDash val="solid"/>
          </a:ln>
        </p:spPr>
      </p:sp>
      <p:sp>
        <p:nvSpPr>
          <p:cNvPr id="21" name="Text 18"/>
          <p:cNvSpPr/>
          <p:nvPr/>
        </p:nvSpPr>
        <p:spPr>
          <a:xfrm>
            <a:off x="9239964" y="4625935"/>
            <a:ext cx="1837968" cy="229791"/>
          </a:xfrm>
          <a:prstGeom prst="rect">
            <a:avLst/>
          </a:prstGeom>
          <a:noFill/>
          <a:ln/>
        </p:spPr>
        <p:txBody>
          <a:bodyPr wrap="none" lIns="0" tIns="0" rIns="0" bIns="0" rtlCol="0" anchor="t"/>
          <a:lstStyle/>
          <a:p>
            <a:pPr marL="0" indent="0" algn="l">
              <a:lnSpc>
                <a:spcPts val="1800"/>
              </a:lnSpc>
              <a:buNone/>
            </a:pPr>
            <a:r>
              <a:rPr lang="en-US" sz="1400" dirty="0">
                <a:solidFill>
                  <a:srgbClr val="5B6E8C"/>
                </a:solidFill>
                <a:latin typeface="Alexandria Medium" pitchFamily="34" charset="0"/>
                <a:ea typeface="Alexandria Medium" pitchFamily="34" charset="-122"/>
                <a:cs typeface="Alexandria Medium" pitchFamily="34" charset="-120"/>
              </a:rPr>
              <a:t>Database</a:t>
            </a:r>
            <a:endParaRPr lang="en-US" sz="1400" dirty="0"/>
          </a:p>
        </p:txBody>
      </p:sp>
      <p:sp>
        <p:nvSpPr>
          <p:cNvPr id="22" name="Text 19"/>
          <p:cNvSpPr/>
          <p:nvPr/>
        </p:nvSpPr>
        <p:spPr>
          <a:xfrm>
            <a:off x="9239964" y="4950976"/>
            <a:ext cx="2993350" cy="193834"/>
          </a:xfrm>
          <a:prstGeom prst="rect">
            <a:avLst/>
          </a:prstGeom>
          <a:noFill/>
          <a:ln/>
        </p:spPr>
        <p:txBody>
          <a:bodyPr wrap="none" lIns="0" tIns="0" rIns="0" bIns="0" rtlCol="0" anchor="t"/>
          <a:lstStyle/>
          <a:p>
            <a:pPr marL="0" indent="0" algn="l">
              <a:lnSpc>
                <a:spcPts val="1500"/>
              </a:lnSpc>
              <a:buNone/>
            </a:pPr>
            <a:r>
              <a:rPr lang="en-US" sz="1150" dirty="0">
                <a:solidFill>
                  <a:srgbClr val="5B6E8C"/>
                </a:solidFill>
                <a:latin typeface="Manrope" pitchFamily="34" charset="0"/>
                <a:ea typeface="Manrope" pitchFamily="34" charset="-122"/>
                <a:cs typeface="Manrope" pitchFamily="34" charset="-120"/>
              </a:rPr>
              <a:t>Secure incident storage</a:t>
            </a:r>
            <a:endParaRPr lang="en-US" sz="1150" dirty="0"/>
          </a:p>
        </p:txBody>
      </p:sp>
      <p:sp>
        <p:nvSpPr>
          <p:cNvPr id="23" name="Shape 20"/>
          <p:cNvSpPr/>
          <p:nvPr/>
        </p:nvSpPr>
        <p:spPr>
          <a:xfrm>
            <a:off x="9077682" y="5402342"/>
            <a:ext cx="3317915" cy="843439"/>
          </a:xfrm>
          <a:prstGeom prst="roundRect">
            <a:avLst>
              <a:gd name="adj" fmla="val 26151"/>
            </a:avLst>
          </a:prstGeom>
          <a:solidFill>
            <a:srgbClr val="FFFFFF"/>
          </a:solidFill>
          <a:ln w="15240">
            <a:solidFill>
              <a:srgbClr val="B3D5E4"/>
            </a:solidFill>
            <a:prstDash val="solid"/>
          </a:ln>
        </p:spPr>
      </p:sp>
      <p:sp>
        <p:nvSpPr>
          <p:cNvPr id="24" name="Text 21"/>
          <p:cNvSpPr/>
          <p:nvPr/>
        </p:nvSpPr>
        <p:spPr>
          <a:xfrm>
            <a:off x="9239964" y="5564624"/>
            <a:ext cx="1837968" cy="229791"/>
          </a:xfrm>
          <a:prstGeom prst="rect">
            <a:avLst/>
          </a:prstGeom>
          <a:noFill/>
          <a:ln/>
        </p:spPr>
        <p:txBody>
          <a:bodyPr wrap="none" lIns="0" tIns="0" rIns="0" bIns="0" rtlCol="0" anchor="t"/>
          <a:lstStyle/>
          <a:p>
            <a:pPr marL="0" indent="0" algn="l">
              <a:lnSpc>
                <a:spcPts val="1800"/>
              </a:lnSpc>
              <a:buNone/>
            </a:pPr>
            <a:r>
              <a:rPr lang="en-US" sz="1400" dirty="0">
                <a:solidFill>
                  <a:srgbClr val="5B6E8C"/>
                </a:solidFill>
                <a:latin typeface="Alexandria Medium" pitchFamily="34" charset="0"/>
                <a:ea typeface="Alexandria Medium" pitchFamily="34" charset="-122"/>
                <a:cs typeface="Alexandria Medium" pitchFamily="34" charset="-120"/>
              </a:rPr>
              <a:t>Security</a:t>
            </a:r>
            <a:endParaRPr lang="en-US" sz="1400" dirty="0"/>
          </a:p>
        </p:txBody>
      </p:sp>
      <p:sp>
        <p:nvSpPr>
          <p:cNvPr id="25" name="Text 22"/>
          <p:cNvSpPr/>
          <p:nvPr/>
        </p:nvSpPr>
        <p:spPr>
          <a:xfrm>
            <a:off x="9239964" y="5889665"/>
            <a:ext cx="2993350" cy="193834"/>
          </a:xfrm>
          <a:prstGeom prst="rect">
            <a:avLst/>
          </a:prstGeom>
          <a:noFill/>
          <a:ln/>
        </p:spPr>
        <p:txBody>
          <a:bodyPr wrap="none" lIns="0" tIns="0" rIns="0" bIns="0" rtlCol="0" anchor="t"/>
          <a:lstStyle/>
          <a:p>
            <a:pPr marL="0" indent="0" algn="l">
              <a:lnSpc>
                <a:spcPts val="1500"/>
              </a:lnSpc>
              <a:buNone/>
            </a:pPr>
            <a:r>
              <a:rPr lang="en-US" sz="1150" dirty="0">
                <a:solidFill>
                  <a:srgbClr val="5B6E8C"/>
                </a:solidFill>
                <a:latin typeface="Manrope" pitchFamily="34" charset="0"/>
                <a:ea typeface="Manrope" pitchFamily="34" charset="-122"/>
                <a:cs typeface="Manrope" pitchFamily="34" charset="-120"/>
              </a:rPr>
              <a:t>Authentication and encryption</a:t>
            </a:r>
            <a:endParaRPr lang="en-US" sz="1150" dirty="0"/>
          </a:p>
        </p:txBody>
      </p:sp>
      <p:sp>
        <p:nvSpPr>
          <p:cNvPr id="26" name="Shape 23"/>
          <p:cNvSpPr/>
          <p:nvPr/>
        </p:nvSpPr>
        <p:spPr>
          <a:xfrm>
            <a:off x="9077682" y="6341031"/>
            <a:ext cx="3317915" cy="843439"/>
          </a:xfrm>
          <a:prstGeom prst="roundRect">
            <a:avLst>
              <a:gd name="adj" fmla="val 26151"/>
            </a:avLst>
          </a:prstGeom>
          <a:solidFill>
            <a:srgbClr val="FFFFFF"/>
          </a:solidFill>
          <a:ln w="15240">
            <a:solidFill>
              <a:srgbClr val="B3D5E4"/>
            </a:solidFill>
            <a:prstDash val="solid"/>
          </a:ln>
        </p:spPr>
      </p:sp>
      <p:sp>
        <p:nvSpPr>
          <p:cNvPr id="27" name="Text 24"/>
          <p:cNvSpPr/>
          <p:nvPr/>
        </p:nvSpPr>
        <p:spPr>
          <a:xfrm>
            <a:off x="9239964" y="6503313"/>
            <a:ext cx="1837968" cy="229791"/>
          </a:xfrm>
          <a:prstGeom prst="rect">
            <a:avLst/>
          </a:prstGeom>
          <a:noFill/>
          <a:ln/>
        </p:spPr>
        <p:txBody>
          <a:bodyPr wrap="none" lIns="0" tIns="0" rIns="0" bIns="0" rtlCol="0" anchor="t"/>
          <a:lstStyle/>
          <a:p>
            <a:pPr marL="0" indent="0" algn="l">
              <a:lnSpc>
                <a:spcPts val="1800"/>
              </a:lnSpc>
              <a:buNone/>
            </a:pPr>
            <a:r>
              <a:rPr lang="en-US" sz="1400" dirty="0">
                <a:solidFill>
                  <a:srgbClr val="5B6E8C"/>
                </a:solidFill>
                <a:latin typeface="Alexandria Medium" pitchFamily="34" charset="0"/>
                <a:ea typeface="Alexandria Medium" pitchFamily="34" charset="-122"/>
                <a:cs typeface="Alexandria Medium" pitchFamily="34" charset="-120"/>
              </a:rPr>
              <a:t>AI Module</a:t>
            </a:r>
            <a:endParaRPr lang="en-US" sz="1400" dirty="0"/>
          </a:p>
        </p:txBody>
      </p:sp>
      <p:sp>
        <p:nvSpPr>
          <p:cNvPr id="28" name="Text 25"/>
          <p:cNvSpPr/>
          <p:nvPr/>
        </p:nvSpPr>
        <p:spPr>
          <a:xfrm>
            <a:off x="9239964" y="6828353"/>
            <a:ext cx="2993350" cy="193834"/>
          </a:xfrm>
          <a:prstGeom prst="rect">
            <a:avLst/>
          </a:prstGeom>
          <a:noFill/>
          <a:ln/>
        </p:spPr>
        <p:txBody>
          <a:bodyPr wrap="none" lIns="0" tIns="0" rIns="0" bIns="0" rtlCol="0" anchor="t"/>
          <a:lstStyle/>
          <a:p>
            <a:pPr marL="0" indent="0" algn="l">
              <a:lnSpc>
                <a:spcPts val="1500"/>
              </a:lnSpc>
              <a:buNone/>
            </a:pPr>
            <a:r>
              <a:rPr lang="en-US" sz="1150" dirty="0">
                <a:solidFill>
                  <a:srgbClr val="5B6E8C"/>
                </a:solidFill>
                <a:latin typeface="Manrope" pitchFamily="34" charset="0"/>
                <a:ea typeface="Manrope" pitchFamily="34" charset="-122"/>
                <a:cs typeface="Manrope" pitchFamily="34" charset="-120"/>
              </a:rPr>
              <a:t>Fraud detection and analysis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596985" y="707112"/>
            <a:ext cx="1218009" cy="298133"/>
          </a:xfrm>
          <a:prstGeom prst="roundRect">
            <a:avLst>
              <a:gd name="adj" fmla="val 66714"/>
            </a:avLst>
          </a:prstGeom>
          <a:noFill/>
          <a:ln w="7620">
            <a:solidFill>
              <a:srgbClr val="AAE4FE"/>
            </a:solidFill>
            <a:prstDash val="solid"/>
          </a:ln>
        </p:spPr>
      </p:sp>
      <p:sp>
        <p:nvSpPr>
          <p:cNvPr id="3" name="Text 1"/>
          <p:cNvSpPr/>
          <p:nvPr/>
        </p:nvSpPr>
        <p:spPr>
          <a:xfrm>
            <a:off x="1704023" y="764381"/>
            <a:ext cx="1003935" cy="183594"/>
          </a:xfrm>
          <a:prstGeom prst="rect">
            <a:avLst/>
          </a:prstGeom>
          <a:noFill/>
          <a:ln/>
        </p:spPr>
        <p:txBody>
          <a:bodyPr wrap="none" lIns="0" tIns="0" rIns="0" bIns="0" rtlCol="0" anchor="t"/>
          <a:lstStyle/>
          <a:p>
            <a:pPr marL="0" indent="0" algn="l">
              <a:lnSpc>
                <a:spcPts val="1400"/>
              </a:lnSpc>
              <a:buNone/>
            </a:pPr>
            <a:r>
              <a:rPr lang="en-US" sz="1000" dirty="0">
                <a:solidFill>
                  <a:srgbClr val="AAE4FE"/>
                </a:solidFill>
                <a:latin typeface="Manrope" pitchFamily="34" charset="0"/>
                <a:ea typeface="Manrope" pitchFamily="34" charset="-122"/>
                <a:cs typeface="Manrope" pitchFamily="34" charset="-120"/>
              </a:rPr>
              <a:t>CORE FEATURES</a:t>
            </a:r>
            <a:endParaRPr lang="en-US" sz="1000" dirty="0"/>
          </a:p>
        </p:txBody>
      </p:sp>
      <p:sp>
        <p:nvSpPr>
          <p:cNvPr id="4" name="Text 2"/>
          <p:cNvSpPr/>
          <p:nvPr/>
        </p:nvSpPr>
        <p:spPr>
          <a:xfrm>
            <a:off x="1596985" y="1053584"/>
            <a:ext cx="4382453" cy="517922"/>
          </a:xfrm>
          <a:prstGeom prst="rect">
            <a:avLst/>
          </a:prstGeom>
          <a:noFill/>
          <a:ln/>
        </p:spPr>
        <p:txBody>
          <a:bodyPr wrap="none" lIns="0" tIns="0" rIns="0" bIns="0" rtlCol="0" anchor="t"/>
          <a:lstStyle/>
          <a:p>
            <a:pPr marL="0" indent="0" algn="l">
              <a:lnSpc>
                <a:spcPts val="4050"/>
              </a:lnSpc>
              <a:buNone/>
            </a:pPr>
            <a:r>
              <a:rPr lang="en-US" sz="3250" dirty="0">
                <a:solidFill>
                  <a:srgbClr val="5B6E8C"/>
                </a:solidFill>
                <a:latin typeface="Alexandria Medium" pitchFamily="34" charset="0"/>
                <a:ea typeface="Alexandria Medium" pitchFamily="34" charset="-122"/>
                <a:cs typeface="Alexandria Medium" pitchFamily="34" charset="-120"/>
              </a:rPr>
              <a:t>Platform Capabilities</a:t>
            </a:r>
            <a:endParaRPr lang="en-US" sz="3250" dirty="0"/>
          </a:p>
        </p:txBody>
      </p:sp>
      <p:pic>
        <p:nvPicPr>
          <p:cNvPr id="5" name="Image 0" descr="preencoded.png"/>
          <p:cNvPicPr>
            <a:picLocks noChangeAspect="1"/>
          </p:cNvPicPr>
          <p:nvPr/>
        </p:nvPicPr>
        <p:blipFill>
          <a:blip r:embed="rId3"/>
          <a:stretch>
            <a:fillRect/>
          </a:stretch>
        </p:blipFill>
        <p:spPr>
          <a:xfrm>
            <a:off x="1596985" y="1753076"/>
            <a:ext cx="1592342" cy="1592342"/>
          </a:xfrm>
          <a:prstGeom prst="rect">
            <a:avLst/>
          </a:prstGeom>
        </p:spPr>
      </p:pic>
      <p:sp>
        <p:nvSpPr>
          <p:cNvPr id="6" name="Text 3"/>
          <p:cNvSpPr/>
          <p:nvPr/>
        </p:nvSpPr>
        <p:spPr>
          <a:xfrm>
            <a:off x="1596985" y="3496747"/>
            <a:ext cx="2071807" cy="258961"/>
          </a:xfrm>
          <a:prstGeom prst="rect">
            <a:avLst/>
          </a:prstGeom>
          <a:noFill/>
          <a:ln/>
        </p:spPr>
        <p:txBody>
          <a:bodyPr wrap="none" lIns="0" tIns="0" rIns="0" bIns="0" rtlCol="0" anchor="t"/>
          <a:lstStyle/>
          <a:p>
            <a:pPr marL="0" indent="0" algn="l">
              <a:lnSpc>
                <a:spcPts val="2000"/>
              </a:lnSpc>
              <a:buNone/>
            </a:pPr>
            <a:r>
              <a:rPr lang="en-US" sz="1600" dirty="0">
                <a:solidFill>
                  <a:srgbClr val="5B6E8C"/>
                </a:solidFill>
                <a:latin typeface="Alexandria Medium" pitchFamily="34" charset="0"/>
                <a:ea typeface="Alexandria Medium" pitchFamily="34" charset="-122"/>
                <a:cs typeface="Alexandria Medium" pitchFamily="34" charset="-120"/>
              </a:rPr>
              <a:t>Live Media Capture</a:t>
            </a:r>
            <a:endParaRPr lang="en-US" sz="1600" dirty="0"/>
          </a:p>
        </p:txBody>
      </p:sp>
      <p:sp>
        <p:nvSpPr>
          <p:cNvPr id="7" name="Text 4"/>
          <p:cNvSpPr/>
          <p:nvPr/>
        </p:nvSpPr>
        <p:spPr>
          <a:xfrm>
            <a:off x="1596985" y="3828336"/>
            <a:ext cx="2745581" cy="688300"/>
          </a:xfrm>
          <a:prstGeom prst="rect">
            <a:avLst/>
          </a:prstGeom>
          <a:noFill/>
          <a:ln/>
        </p:spPr>
        <p:txBody>
          <a:bodyPr wrap="square" lIns="0" tIns="0" rIns="0" bIns="0" rtlCol="0" anchor="t"/>
          <a:lstStyle/>
          <a:p>
            <a:pPr marL="0" indent="0" algn="l">
              <a:lnSpc>
                <a:spcPts val="1800"/>
              </a:lnSpc>
              <a:buNone/>
            </a:pPr>
            <a:r>
              <a:rPr lang="en-US" sz="1300" dirty="0">
                <a:solidFill>
                  <a:srgbClr val="5B6E8C"/>
                </a:solidFill>
                <a:latin typeface="Manrope" pitchFamily="34" charset="0"/>
                <a:ea typeface="Manrope" pitchFamily="34" charset="-122"/>
                <a:cs typeface="Manrope" pitchFamily="34" charset="-120"/>
              </a:rPr>
              <a:t>Real-time photos, video streaming, and audio recording for accurate incident documentation</a:t>
            </a:r>
            <a:endParaRPr lang="en-US" sz="1300" dirty="0"/>
          </a:p>
        </p:txBody>
      </p:sp>
      <p:pic>
        <p:nvPicPr>
          <p:cNvPr id="8" name="Image 1" descr="preencoded.png"/>
          <p:cNvPicPr>
            <a:picLocks noChangeAspect="1"/>
          </p:cNvPicPr>
          <p:nvPr/>
        </p:nvPicPr>
        <p:blipFill>
          <a:blip r:embed="rId4"/>
          <a:stretch>
            <a:fillRect/>
          </a:stretch>
        </p:blipFill>
        <p:spPr>
          <a:xfrm>
            <a:off x="4493895" y="1753076"/>
            <a:ext cx="1592342" cy="1592342"/>
          </a:xfrm>
          <a:prstGeom prst="rect">
            <a:avLst/>
          </a:prstGeom>
        </p:spPr>
      </p:pic>
      <p:sp>
        <p:nvSpPr>
          <p:cNvPr id="9" name="Text 5"/>
          <p:cNvSpPr/>
          <p:nvPr/>
        </p:nvSpPr>
        <p:spPr>
          <a:xfrm>
            <a:off x="4493895" y="3496747"/>
            <a:ext cx="2317194" cy="258961"/>
          </a:xfrm>
          <a:prstGeom prst="rect">
            <a:avLst/>
          </a:prstGeom>
          <a:noFill/>
          <a:ln/>
        </p:spPr>
        <p:txBody>
          <a:bodyPr wrap="none" lIns="0" tIns="0" rIns="0" bIns="0" rtlCol="0" anchor="t"/>
          <a:lstStyle/>
          <a:p>
            <a:pPr marL="0" indent="0" algn="l">
              <a:lnSpc>
                <a:spcPts val="2000"/>
              </a:lnSpc>
              <a:buNone/>
            </a:pPr>
            <a:r>
              <a:rPr lang="en-US" sz="1600" dirty="0">
                <a:solidFill>
                  <a:srgbClr val="5B6E8C"/>
                </a:solidFill>
                <a:latin typeface="Alexandria Medium" pitchFamily="34" charset="0"/>
                <a:ea typeface="Alexandria Medium" pitchFamily="34" charset="-122"/>
                <a:cs typeface="Alexandria Medium" pitchFamily="34" charset="-120"/>
              </a:rPr>
              <a:t>GPS Location Tracking</a:t>
            </a:r>
            <a:endParaRPr lang="en-US" sz="1600" dirty="0"/>
          </a:p>
        </p:txBody>
      </p:sp>
      <p:sp>
        <p:nvSpPr>
          <p:cNvPr id="10" name="Text 6"/>
          <p:cNvSpPr/>
          <p:nvPr/>
        </p:nvSpPr>
        <p:spPr>
          <a:xfrm>
            <a:off x="4493895" y="3828336"/>
            <a:ext cx="2745581" cy="688300"/>
          </a:xfrm>
          <a:prstGeom prst="rect">
            <a:avLst/>
          </a:prstGeom>
          <a:noFill/>
          <a:ln/>
        </p:spPr>
        <p:txBody>
          <a:bodyPr wrap="square" lIns="0" tIns="0" rIns="0" bIns="0" rtlCol="0" anchor="t"/>
          <a:lstStyle/>
          <a:p>
            <a:pPr marL="0" indent="0" algn="l">
              <a:lnSpc>
                <a:spcPts val="1800"/>
              </a:lnSpc>
              <a:buNone/>
            </a:pPr>
            <a:r>
              <a:rPr lang="en-US" sz="1300" dirty="0">
                <a:solidFill>
                  <a:srgbClr val="5B6E8C"/>
                </a:solidFill>
                <a:latin typeface="Manrope" pitchFamily="34" charset="0"/>
                <a:ea typeface="Manrope" pitchFamily="34" charset="-122"/>
                <a:cs typeface="Manrope" pitchFamily="34" charset="-120"/>
              </a:rPr>
              <a:t>Automatic real-time location sharing to help responders reach victims quickly</a:t>
            </a:r>
            <a:endParaRPr lang="en-US" sz="1300" dirty="0"/>
          </a:p>
        </p:txBody>
      </p:sp>
      <p:pic>
        <p:nvPicPr>
          <p:cNvPr id="11" name="Image 2" descr="preencoded.png"/>
          <p:cNvPicPr>
            <a:picLocks noChangeAspect="1"/>
          </p:cNvPicPr>
          <p:nvPr/>
        </p:nvPicPr>
        <p:blipFill>
          <a:blip r:embed="rId5"/>
          <a:stretch>
            <a:fillRect/>
          </a:stretch>
        </p:blipFill>
        <p:spPr>
          <a:xfrm>
            <a:off x="7390805" y="1753076"/>
            <a:ext cx="1592342" cy="1592342"/>
          </a:xfrm>
          <a:prstGeom prst="rect">
            <a:avLst/>
          </a:prstGeom>
        </p:spPr>
      </p:pic>
      <p:sp>
        <p:nvSpPr>
          <p:cNvPr id="12" name="Text 7"/>
          <p:cNvSpPr/>
          <p:nvPr/>
        </p:nvSpPr>
        <p:spPr>
          <a:xfrm>
            <a:off x="7390805" y="3496747"/>
            <a:ext cx="2071807" cy="258961"/>
          </a:xfrm>
          <a:prstGeom prst="rect">
            <a:avLst/>
          </a:prstGeom>
          <a:noFill/>
          <a:ln/>
        </p:spPr>
        <p:txBody>
          <a:bodyPr wrap="none" lIns="0" tIns="0" rIns="0" bIns="0" rtlCol="0" anchor="t"/>
          <a:lstStyle/>
          <a:p>
            <a:pPr marL="0" indent="0" algn="l">
              <a:lnSpc>
                <a:spcPts val="2000"/>
              </a:lnSpc>
              <a:buNone/>
            </a:pPr>
            <a:r>
              <a:rPr lang="en-US" sz="1600" dirty="0">
                <a:solidFill>
                  <a:srgbClr val="5B6E8C"/>
                </a:solidFill>
                <a:latin typeface="Alexandria Medium" pitchFamily="34" charset="0"/>
                <a:ea typeface="Alexandria Medium" pitchFamily="34" charset="-122"/>
                <a:cs typeface="Alexandria Medium" pitchFamily="34" charset="-120"/>
              </a:rPr>
              <a:t>Identity Verification</a:t>
            </a:r>
            <a:endParaRPr lang="en-US" sz="1600" dirty="0"/>
          </a:p>
        </p:txBody>
      </p:sp>
      <p:sp>
        <p:nvSpPr>
          <p:cNvPr id="13" name="Text 8"/>
          <p:cNvSpPr/>
          <p:nvPr/>
        </p:nvSpPr>
        <p:spPr>
          <a:xfrm>
            <a:off x="7390805" y="3828336"/>
            <a:ext cx="2745581" cy="688300"/>
          </a:xfrm>
          <a:prstGeom prst="rect">
            <a:avLst/>
          </a:prstGeom>
          <a:noFill/>
          <a:ln/>
        </p:spPr>
        <p:txBody>
          <a:bodyPr wrap="square" lIns="0" tIns="0" rIns="0" bIns="0" rtlCol="0" anchor="t"/>
          <a:lstStyle/>
          <a:p>
            <a:pPr marL="0" indent="0" algn="l">
              <a:lnSpc>
                <a:spcPts val="1800"/>
              </a:lnSpc>
              <a:buNone/>
            </a:pPr>
            <a:r>
              <a:rPr lang="en-US" sz="1300" dirty="0">
                <a:solidFill>
                  <a:srgbClr val="5B6E8C"/>
                </a:solidFill>
                <a:latin typeface="Manrope" pitchFamily="34" charset="0"/>
                <a:ea typeface="Manrope" pitchFamily="34" charset="-122"/>
                <a:cs typeface="Manrope" pitchFamily="34" charset="-120"/>
              </a:rPr>
              <a:t>Ghana Card and NHIS integration to authenticate users and reduce false reports</a:t>
            </a:r>
            <a:endParaRPr lang="en-US" sz="1300" dirty="0"/>
          </a:p>
        </p:txBody>
      </p:sp>
      <p:pic>
        <p:nvPicPr>
          <p:cNvPr id="14" name="Image 3" descr="preencoded.png"/>
          <p:cNvPicPr>
            <a:picLocks noChangeAspect="1"/>
          </p:cNvPicPr>
          <p:nvPr/>
        </p:nvPicPr>
        <p:blipFill>
          <a:blip r:embed="rId6"/>
          <a:stretch>
            <a:fillRect/>
          </a:stretch>
        </p:blipFill>
        <p:spPr>
          <a:xfrm>
            <a:off x="10287714" y="1753076"/>
            <a:ext cx="1592461" cy="1592461"/>
          </a:xfrm>
          <a:prstGeom prst="rect">
            <a:avLst/>
          </a:prstGeom>
        </p:spPr>
      </p:pic>
      <p:sp>
        <p:nvSpPr>
          <p:cNvPr id="15" name="Text 9"/>
          <p:cNvSpPr/>
          <p:nvPr/>
        </p:nvSpPr>
        <p:spPr>
          <a:xfrm>
            <a:off x="10287714" y="3496866"/>
            <a:ext cx="2071807" cy="258961"/>
          </a:xfrm>
          <a:prstGeom prst="rect">
            <a:avLst/>
          </a:prstGeom>
          <a:noFill/>
          <a:ln/>
        </p:spPr>
        <p:txBody>
          <a:bodyPr wrap="none" lIns="0" tIns="0" rIns="0" bIns="0" rtlCol="0" anchor="t"/>
          <a:lstStyle/>
          <a:p>
            <a:pPr marL="0" indent="0" algn="l">
              <a:lnSpc>
                <a:spcPts val="2000"/>
              </a:lnSpc>
              <a:buNone/>
            </a:pPr>
            <a:r>
              <a:rPr lang="en-US" sz="1600" dirty="0">
                <a:solidFill>
                  <a:srgbClr val="5B6E8C"/>
                </a:solidFill>
                <a:latin typeface="Alexandria Medium" pitchFamily="34" charset="0"/>
                <a:ea typeface="Alexandria Medium" pitchFamily="34" charset="-122"/>
                <a:cs typeface="Alexandria Medium" pitchFamily="34" charset="-120"/>
              </a:rPr>
              <a:t>Agency Routing</a:t>
            </a:r>
            <a:endParaRPr lang="en-US" sz="1600" dirty="0"/>
          </a:p>
        </p:txBody>
      </p:sp>
      <p:sp>
        <p:nvSpPr>
          <p:cNvPr id="16" name="Text 10"/>
          <p:cNvSpPr/>
          <p:nvPr/>
        </p:nvSpPr>
        <p:spPr>
          <a:xfrm>
            <a:off x="10287714" y="3828455"/>
            <a:ext cx="2745700" cy="688300"/>
          </a:xfrm>
          <a:prstGeom prst="rect">
            <a:avLst/>
          </a:prstGeom>
          <a:noFill/>
          <a:ln/>
        </p:spPr>
        <p:txBody>
          <a:bodyPr wrap="square" lIns="0" tIns="0" rIns="0" bIns="0" rtlCol="0" anchor="t"/>
          <a:lstStyle/>
          <a:p>
            <a:pPr marL="0" indent="0" algn="l">
              <a:lnSpc>
                <a:spcPts val="1800"/>
              </a:lnSpc>
              <a:buNone/>
            </a:pPr>
            <a:r>
              <a:rPr lang="en-US" sz="1300" dirty="0">
                <a:solidFill>
                  <a:srgbClr val="5B6E8C"/>
                </a:solidFill>
                <a:latin typeface="Manrope" pitchFamily="34" charset="0"/>
                <a:ea typeface="Manrope" pitchFamily="34" charset="-122"/>
                <a:cs typeface="Manrope" pitchFamily="34" charset="-120"/>
              </a:rPr>
              <a:t>Intelligent incident categorization and routing to Police, Fire Service, or Ambulance</a:t>
            </a:r>
            <a:endParaRPr lang="en-US" sz="1300" dirty="0"/>
          </a:p>
        </p:txBody>
      </p:sp>
      <p:pic>
        <p:nvPicPr>
          <p:cNvPr id="17" name="Image 4" descr="preencoded.png"/>
          <p:cNvPicPr>
            <a:picLocks noChangeAspect="1"/>
          </p:cNvPicPr>
          <p:nvPr/>
        </p:nvPicPr>
        <p:blipFill>
          <a:blip r:embed="rId7"/>
          <a:stretch>
            <a:fillRect/>
          </a:stretch>
        </p:blipFill>
        <p:spPr>
          <a:xfrm>
            <a:off x="1596985" y="4758928"/>
            <a:ext cx="1592342" cy="1592342"/>
          </a:xfrm>
          <a:prstGeom prst="rect">
            <a:avLst/>
          </a:prstGeom>
        </p:spPr>
      </p:pic>
      <p:sp>
        <p:nvSpPr>
          <p:cNvPr id="18" name="Text 11"/>
          <p:cNvSpPr/>
          <p:nvPr/>
        </p:nvSpPr>
        <p:spPr>
          <a:xfrm>
            <a:off x="1596985" y="6502598"/>
            <a:ext cx="2071807" cy="258961"/>
          </a:xfrm>
          <a:prstGeom prst="rect">
            <a:avLst/>
          </a:prstGeom>
          <a:noFill/>
          <a:ln/>
        </p:spPr>
        <p:txBody>
          <a:bodyPr wrap="none" lIns="0" tIns="0" rIns="0" bIns="0" rtlCol="0" anchor="t"/>
          <a:lstStyle/>
          <a:p>
            <a:pPr marL="0" indent="0" algn="l">
              <a:lnSpc>
                <a:spcPts val="2000"/>
              </a:lnSpc>
              <a:buNone/>
            </a:pPr>
            <a:r>
              <a:rPr lang="en-US" sz="1600" dirty="0">
                <a:solidFill>
                  <a:srgbClr val="5B6E8C"/>
                </a:solidFill>
                <a:latin typeface="Alexandria Medium" pitchFamily="34" charset="0"/>
                <a:ea typeface="Alexandria Medium" pitchFamily="34" charset="-122"/>
                <a:cs typeface="Alexandria Medium" pitchFamily="34" charset="-120"/>
              </a:rPr>
              <a:t>AI Fraud Detection</a:t>
            </a:r>
            <a:endParaRPr lang="en-US" sz="1600" dirty="0"/>
          </a:p>
        </p:txBody>
      </p:sp>
      <p:sp>
        <p:nvSpPr>
          <p:cNvPr id="19" name="Text 12"/>
          <p:cNvSpPr/>
          <p:nvPr/>
        </p:nvSpPr>
        <p:spPr>
          <a:xfrm>
            <a:off x="1596985" y="6834188"/>
            <a:ext cx="2745581" cy="688300"/>
          </a:xfrm>
          <a:prstGeom prst="rect">
            <a:avLst/>
          </a:prstGeom>
          <a:noFill/>
          <a:ln/>
        </p:spPr>
        <p:txBody>
          <a:bodyPr wrap="square" lIns="0" tIns="0" rIns="0" bIns="0" rtlCol="0" anchor="t"/>
          <a:lstStyle/>
          <a:p>
            <a:pPr marL="0" indent="0" algn="l">
              <a:lnSpc>
                <a:spcPts val="1800"/>
              </a:lnSpc>
              <a:buNone/>
            </a:pPr>
            <a:r>
              <a:rPr lang="en-US" sz="1300" dirty="0">
                <a:solidFill>
                  <a:srgbClr val="5B6E8C"/>
                </a:solidFill>
                <a:latin typeface="Manrope" pitchFamily="34" charset="0"/>
                <a:ea typeface="Manrope" pitchFamily="34" charset="-122"/>
                <a:cs typeface="Manrope" pitchFamily="34" charset="-120"/>
              </a:rPr>
              <a:t>Behavioral analysis and pattern recognition to identify and filter prank calls</a:t>
            </a:r>
            <a:endParaRPr lang="en-US" sz="1300" dirty="0"/>
          </a:p>
        </p:txBody>
      </p:sp>
      <p:pic>
        <p:nvPicPr>
          <p:cNvPr id="20" name="Image 5" descr="preencoded.png"/>
          <p:cNvPicPr>
            <a:picLocks noChangeAspect="1"/>
          </p:cNvPicPr>
          <p:nvPr/>
        </p:nvPicPr>
        <p:blipFill>
          <a:blip r:embed="rId8"/>
          <a:stretch>
            <a:fillRect/>
          </a:stretch>
        </p:blipFill>
        <p:spPr>
          <a:xfrm>
            <a:off x="4493895" y="4758928"/>
            <a:ext cx="1592342" cy="1592342"/>
          </a:xfrm>
          <a:prstGeom prst="rect">
            <a:avLst/>
          </a:prstGeom>
        </p:spPr>
      </p:pic>
      <p:sp>
        <p:nvSpPr>
          <p:cNvPr id="21" name="Text 13"/>
          <p:cNvSpPr/>
          <p:nvPr/>
        </p:nvSpPr>
        <p:spPr>
          <a:xfrm>
            <a:off x="4493895" y="6502598"/>
            <a:ext cx="2272070" cy="258961"/>
          </a:xfrm>
          <a:prstGeom prst="rect">
            <a:avLst/>
          </a:prstGeom>
          <a:noFill/>
          <a:ln/>
        </p:spPr>
        <p:txBody>
          <a:bodyPr wrap="none" lIns="0" tIns="0" rIns="0" bIns="0" rtlCol="0" anchor="t"/>
          <a:lstStyle/>
          <a:p>
            <a:pPr marL="0" indent="0" algn="l">
              <a:lnSpc>
                <a:spcPts val="2000"/>
              </a:lnSpc>
              <a:buNone/>
            </a:pPr>
            <a:r>
              <a:rPr lang="en-US" sz="1600" dirty="0">
                <a:solidFill>
                  <a:srgbClr val="5B6E8C"/>
                </a:solidFill>
                <a:latin typeface="Alexandria Medium" pitchFamily="34" charset="0"/>
                <a:ea typeface="Alexandria Medium" pitchFamily="34" charset="-122"/>
                <a:cs typeface="Alexandria Medium" pitchFamily="34" charset="-120"/>
              </a:rPr>
              <a:t>Secure Data Handling</a:t>
            </a:r>
            <a:endParaRPr lang="en-US" sz="1600" dirty="0"/>
          </a:p>
        </p:txBody>
      </p:sp>
      <p:sp>
        <p:nvSpPr>
          <p:cNvPr id="22" name="Text 14"/>
          <p:cNvSpPr/>
          <p:nvPr/>
        </p:nvSpPr>
        <p:spPr>
          <a:xfrm>
            <a:off x="4493895" y="6834188"/>
            <a:ext cx="2745581" cy="688300"/>
          </a:xfrm>
          <a:prstGeom prst="rect">
            <a:avLst/>
          </a:prstGeom>
          <a:noFill/>
          <a:ln/>
        </p:spPr>
        <p:txBody>
          <a:bodyPr wrap="square" lIns="0" tIns="0" rIns="0" bIns="0" rtlCol="0" anchor="t"/>
          <a:lstStyle/>
          <a:p>
            <a:pPr marL="0" indent="0" algn="l">
              <a:lnSpc>
                <a:spcPts val="1800"/>
              </a:lnSpc>
              <a:buNone/>
            </a:pPr>
            <a:r>
              <a:rPr lang="en-US" sz="1300" dirty="0">
                <a:solidFill>
                  <a:srgbClr val="5B6E8C"/>
                </a:solidFill>
                <a:latin typeface="Manrope" pitchFamily="34" charset="0"/>
                <a:ea typeface="Manrope" pitchFamily="34" charset="-122"/>
                <a:cs typeface="Manrope" pitchFamily="34" charset="-120"/>
              </a:rPr>
              <a:t>End-to-end encryption and compliance with Ghana's Data Protection Act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73443" y="764143"/>
            <a:ext cx="5608677" cy="583525"/>
          </a:xfrm>
          <a:prstGeom prst="rect">
            <a:avLst/>
          </a:prstGeom>
          <a:noFill/>
          <a:ln/>
        </p:spPr>
        <p:txBody>
          <a:bodyPr wrap="none" lIns="0" tIns="0" rIns="0" bIns="0" rtlCol="0" anchor="t"/>
          <a:lstStyle/>
          <a:p>
            <a:pPr marL="0" indent="0" algn="l">
              <a:lnSpc>
                <a:spcPts val="4550"/>
              </a:lnSpc>
              <a:buNone/>
            </a:pPr>
            <a:r>
              <a:rPr lang="en-US" sz="3650" dirty="0">
                <a:solidFill>
                  <a:srgbClr val="5B6E8C"/>
                </a:solidFill>
                <a:latin typeface="Alexandria Medium" pitchFamily="34" charset="0"/>
                <a:ea typeface="Alexandria Medium" pitchFamily="34" charset="-122"/>
                <a:cs typeface="Alexandria Medium" pitchFamily="34" charset="-120"/>
              </a:rPr>
              <a:t>Development Approach</a:t>
            </a:r>
            <a:endParaRPr lang="en-US" sz="3650" dirty="0"/>
          </a:p>
        </p:txBody>
      </p:sp>
      <p:sp>
        <p:nvSpPr>
          <p:cNvPr id="3" name="Text 1"/>
          <p:cNvSpPr/>
          <p:nvPr/>
        </p:nvSpPr>
        <p:spPr>
          <a:xfrm>
            <a:off x="873443" y="1731764"/>
            <a:ext cx="3734276" cy="466725"/>
          </a:xfrm>
          <a:prstGeom prst="rect">
            <a:avLst/>
          </a:prstGeom>
          <a:noFill/>
          <a:ln/>
        </p:spPr>
        <p:txBody>
          <a:bodyPr wrap="none" lIns="0" tIns="0" rIns="0" bIns="0" rtlCol="0" anchor="t"/>
          <a:lstStyle/>
          <a:p>
            <a:pPr marL="0" indent="0" algn="l">
              <a:lnSpc>
                <a:spcPts val="3650"/>
              </a:lnSpc>
              <a:buNone/>
            </a:pPr>
            <a:r>
              <a:rPr lang="en-US" sz="2900" dirty="0">
                <a:solidFill>
                  <a:srgbClr val="5B6E8C"/>
                </a:solidFill>
                <a:latin typeface="Alexandria Medium" pitchFamily="34" charset="0"/>
                <a:ea typeface="Alexandria Medium" pitchFamily="34" charset="-122"/>
                <a:cs typeface="Alexandria Medium" pitchFamily="34" charset="-120"/>
              </a:rPr>
              <a:t>Agile Methodology</a:t>
            </a:r>
            <a:endParaRPr lang="en-US" sz="2900" dirty="0"/>
          </a:p>
        </p:txBody>
      </p:sp>
      <p:sp>
        <p:nvSpPr>
          <p:cNvPr id="4" name="Text 2"/>
          <p:cNvSpPr/>
          <p:nvPr/>
        </p:nvSpPr>
        <p:spPr>
          <a:xfrm>
            <a:off x="873443" y="2352080"/>
            <a:ext cx="6213991" cy="544354"/>
          </a:xfrm>
          <a:prstGeom prst="rect">
            <a:avLst/>
          </a:prstGeom>
          <a:noFill/>
          <a:ln/>
        </p:spPr>
        <p:txBody>
          <a:bodyPr wrap="square" lIns="0" tIns="0" rIns="0" bIns="0" rtlCol="0" anchor="t"/>
          <a:lstStyle/>
          <a:p>
            <a:pPr marL="0" indent="0" algn="l">
              <a:lnSpc>
                <a:spcPts val="2100"/>
              </a:lnSpc>
              <a:buNone/>
            </a:pPr>
            <a:r>
              <a:rPr lang="en-US" sz="1450" dirty="0">
                <a:solidFill>
                  <a:srgbClr val="5B6E8C"/>
                </a:solidFill>
                <a:latin typeface="Manrope" pitchFamily="34" charset="0"/>
                <a:ea typeface="Manrope" pitchFamily="34" charset="-122"/>
                <a:cs typeface="Manrope" pitchFamily="34" charset="-120"/>
              </a:rPr>
              <a:t>The project follows Agile Software Development for iterative progress and continuous improvement.</a:t>
            </a:r>
            <a:endParaRPr lang="en-US" sz="1450" dirty="0"/>
          </a:p>
        </p:txBody>
      </p:sp>
      <p:sp>
        <p:nvSpPr>
          <p:cNvPr id="5" name="Shape 3"/>
          <p:cNvSpPr/>
          <p:nvPr/>
        </p:nvSpPr>
        <p:spPr>
          <a:xfrm>
            <a:off x="7416165" y="1578173"/>
            <a:ext cx="6482834" cy="2228255"/>
          </a:xfrm>
          <a:prstGeom prst="roundRect">
            <a:avLst>
              <a:gd name="adj" fmla="val 20111"/>
            </a:avLst>
          </a:prstGeom>
          <a:solidFill>
            <a:srgbClr val="AAE4FE"/>
          </a:solidFill>
          <a:ln/>
        </p:spPr>
      </p:sp>
      <p:sp>
        <p:nvSpPr>
          <p:cNvPr id="6" name="Text 4"/>
          <p:cNvSpPr/>
          <p:nvPr/>
        </p:nvSpPr>
        <p:spPr>
          <a:xfrm>
            <a:off x="7602855" y="1731764"/>
            <a:ext cx="2333863" cy="291703"/>
          </a:xfrm>
          <a:prstGeom prst="rect">
            <a:avLst/>
          </a:prstGeom>
          <a:noFill/>
          <a:ln/>
        </p:spPr>
        <p:txBody>
          <a:bodyPr wrap="none" lIns="0" tIns="0" rIns="0" bIns="0" rtlCol="0" anchor="t"/>
          <a:lstStyle/>
          <a:p>
            <a:pPr marL="0" indent="0" algn="l">
              <a:lnSpc>
                <a:spcPts val="2250"/>
              </a:lnSpc>
              <a:buNone/>
            </a:pPr>
            <a:r>
              <a:rPr lang="en-US" sz="1800" dirty="0">
                <a:solidFill>
                  <a:srgbClr val="000000"/>
                </a:solidFill>
                <a:latin typeface="Alexandria Medium" pitchFamily="34" charset="0"/>
                <a:ea typeface="Alexandria Medium" pitchFamily="34" charset="-122"/>
                <a:cs typeface="Alexandria Medium" pitchFamily="34" charset="-120"/>
              </a:rPr>
              <a:t>Testing Strategy</a:t>
            </a:r>
            <a:endParaRPr lang="en-US" sz="1800" dirty="0"/>
          </a:p>
        </p:txBody>
      </p:sp>
      <p:sp>
        <p:nvSpPr>
          <p:cNvPr id="7" name="Text 5"/>
          <p:cNvSpPr/>
          <p:nvPr/>
        </p:nvSpPr>
        <p:spPr>
          <a:xfrm>
            <a:off x="7602855" y="2177058"/>
            <a:ext cx="6109454" cy="1361675"/>
          </a:xfrm>
          <a:prstGeom prst="rect">
            <a:avLst/>
          </a:prstGeom>
          <a:noFill/>
          <a:ln/>
        </p:spPr>
        <p:txBody>
          <a:bodyPr wrap="square" lIns="0" tIns="0" rIns="0" bIns="0" rtlCol="0" anchor="t"/>
          <a:lstStyle/>
          <a:p>
            <a:pPr marL="342900" indent="-342900" algn="l">
              <a:lnSpc>
                <a:spcPts val="2100"/>
              </a:lnSpc>
              <a:buSzPct val="100000"/>
              <a:buChar char="•"/>
            </a:pPr>
            <a:r>
              <a:rPr lang="en-US" sz="1450" dirty="0">
                <a:solidFill>
                  <a:srgbClr val="000000"/>
                </a:solidFill>
                <a:latin typeface="Manrope" pitchFamily="34" charset="0"/>
                <a:ea typeface="Manrope" pitchFamily="34" charset="-122"/>
                <a:cs typeface="Manrope" pitchFamily="34" charset="-120"/>
              </a:rPr>
              <a:t>Unit testing for individual components</a:t>
            </a:r>
            <a:endParaRPr lang="en-US" sz="1450" dirty="0"/>
          </a:p>
          <a:p>
            <a:pPr marL="342900" indent="-342900" algn="l">
              <a:lnSpc>
                <a:spcPts val="2100"/>
              </a:lnSpc>
              <a:buSzPct val="100000"/>
              <a:buChar char="•"/>
            </a:pPr>
            <a:r>
              <a:rPr lang="en-US" sz="1450" dirty="0">
                <a:solidFill>
                  <a:srgbClr val="000000"/>
                </a:solidFill>
                <a:latin typeface="Manrope" pitchFamily="34" charset="0"/>
                <a:ea typeface="Manrope" pitchFamily="34" charset="-122"/>
                <a:cs typeface="Manrope" pitchFamily="34" charset="-120"/>
              </a:rPr>
              <a:t>Integration testing across layers</a:t>
            </a:r>
            <a:endParaRPr lang="en-US" sz="1450" dirty="0"/>
          </a:p>
          <a:p>
            <a:pPr marL="342900" indent="-342900" algn="l">
              <a:lnSpc>
                <a:spcPts val="2100"/>
              </a:lnSpc>
              <a:buSzPct val="100000"/>
              <a:buChar char="•"/>
            </a:pPr>
            <a:r>
              <a:rPr lang="en-US" sz="1450" dirty="0">
                <a:solidFill>
                  <a:srgbClr val="000000"/>
                </a:solidFill>
                <a:latin typeface="Manrope" pitchFamily="34" charset="0"/>
                <a:ea typeface="Manrope" pitchFamily="34" charset="-122"/>
                <a:cs typeface="Manrope" pitchFamily="34" charset="-120"/>
              </a:rPr>
              <a:t>System testing for end-to-end functionality</a:t>
            </a:r>
            <a:endParaRPr lang="en-US" sz="1450" dirty="0"/>
          </a:p>
          <a:p>
            <a:pPr marL="342900" indent="-342900" algn="l">
              <a:lnSpc>
                <a:spcPts val="2100"/>
              </a:lnSpc>
              <a:buSzPct val="100000"/>
              <a:buChar char="•"/>
            </a:pPr>
            <a:r>
              <a:rPr lang="en-US" sz="1450" dirty="0">
                <a:solidFill>
                  <a:srgbClr val="000000"/>
                </a:solidFill>
                <a:latin typeface="Manrope" pitchFamily="34" charset="0"/>
                <a:ea typeface="Manrope" pitchFamily="34" charset="-122"/>
                <a:cs typeface="Manrope" pitchFamily="34" charset="-120"/>
              </a:rPr>
              <a:t>User acceptance testing with agencies</a:t>
            </a:r>
            <a:endParaRPr lang="en-US" sz="1450" dirty="0"/>
          </a:p>
          <a:p>
            <a:pPr marL="342900" indent="-342900" algn="l">
              <a:lnSpc>
                <a:spcPts val="2100"/>
              </a:lnSpc>
              <a:buSzPct val="100000"/>
              <a:buChar char="•"/>
            </a:pPr>
            <a:r>
              <a:rPr lang="en-US" sz="1450" dirty="0">
                <a:solidFill>
                  <a:srgbClr val="000000"/>
                </a:solidFill>
                <a:latin typeface="Manrope" pitchFamily="34" charset="0"/>
                <a:ea typeface="Manrope" pitchFamily="34" charset="-122"/>
                <a:cs typeface="Manrope" pitchFamily="34" charset="-120"/>
              </a:rPr>
              <a:t>Performance and security testing</a:t>
            </a:r>
            <a:endParaRPr lang="en-US" sz="1450" dirty="0"/>
          </a:p>
        </p:txBody>
      </p:sp>
      <p:pic>
        <p:nvPicPr>
          <p:cNvPr id="8" name="Image 0" descr="preencoded.png"/>
          <p:cNvPicPr>
            <a:picLocks noChangeAspect="1"/>
          </p:cNvPicPr>
          <p:nvPr/>
        </p:nvPicPr>
        <p:blipFill>
          <a:blip r:embed="rId3"/>
          <a:stretch>
            <a:fillRect/>
          </a:stretch>
        </p:blipFill>
        <p:spPr>
          <a:xfrm>
            <a:off x="873443" y="3765309"/>
            <a:ext cx="6441757" cy="746760"/>
          </a:xfrm>
          <a:prstGeom prst="rect">
            <a:avLst/>
          </a:prstGeom>
        </p:spPr>
      </p:pic>
      <p:sp>
        <p:nvSpPr>
          <p:cNvPr id="9" name="Text 6"/>
          <p:cNvSpPr/>
          <p:nvPr/>
        </p:nvSpPr>
        <p:spPr>
          <a:xfrm>
            <a:off x="1060133" y="4665659"/>
            <a:ext cx="2333863" cy="291703"/>
          </a:xfrm>
          <a:prstGeom prst="rect">
            <a:avLst/>
          </a:prstGeom>
          <a:noFill/>
          <a:ln/>
        </p:spPr>
        <p:txBody>
          <a:bodyPr wrap="none" lIns="0" tIns="0" rIns="0" bIns="0" rtlCol="0" anchor="t"/>
          <a:lstStyle/>
          <a:p>
            <a:pPr marL="0" indent="0" algn="l">
              <a:lnSpc>
                <a:spcPts val="2250"/>
              </a:lnSpc>
              <a:buNone/>
            </a:pPr>
            <a:r>
              <a:rPr lang="en-US" sz="1800" dirty="0">
                <a:solidFill>
                  <a:srgbClr val="5B6E8C"/>
                </a:solidFill>
                <a:latin typeface="Alexandria Medium" pitchFamily="34" charset="0"/>
                <a:ea typeface="Alexandria Medium" pitchFamily="34" charset="-122"/>
                <a:cs typeface="Alexandria Medium" pitchFamily="34" charset="-120"/>
              </a:rPr>
              <a:t>Requirements</a:t>
            </a:r>
            <a:endParaRPr lang="en-US" sz="1800" dirty="0"/>
          </a:p>
        </p:txBody>
      </p:sp>
      <p:sp>
        <p:nvSpPr>
          <p:cNvPr id="10" name="Text 7"/>
          <p:cNvSpPr/>
          <p:nvPr/>
        </p:nvSpPr>
        <p:spPr>
          <a:xfrm>
            <a:off x="1060133" y="5049517"/>
            <a:ext cx="6068378" cy="272177"/>
          </a:xfrm>
          <a:prstGeom prst="rect">
            <a:avLst/>
          </a:prstGeom>
          <a:noFill/>
          <a:ln/>
        </p:spPr>
        <p:txBody>
          <a:bodyPr wrap="none" lIns="0" tIns="0" rIns="0" bIns="0" rtlCol="0" anchor="t"/>
          <a:lstStyle/>
          <a:p>
            <a:pPr marL="0" indent="0" algn="l">
              <a:lnSpc>
                <a:spcPts val="2100"/>
              </a:lnSpc>
              <a:buNone/>
            </a:pPr>
            <a:r>
              <a:rPr lang="en-US" sz="1450" dirty="0">
                <a:solidFill>
                  <a:srgbClr val="5B6E8C"/>
                </a:solidFill>
                <a:latin typeface="Manrope" pitchFamily="34" charset="0"/>
                <a:ea typeface="Manrope" pitchFamily="34" charset="-122"/>
                <a:cs typeface="Manrope" pitchFamily="34" charset="-120"/>
              </a:rPr>
              <a:t>Analysis and planning</a:t>
            </a:r>
            <a:endParaRPr lang="en-US" sz="1450" dirty="0"/>
          </a:p>
        </p:txBody>
      </p:sp>
      <p:pic>
        <p:nvPicPr>
          <p:cNvPr id="11" name="Image 1" descr="preencoded.png"/>
          <p:cNvPicPr>
            <a:picLocks noChangeAspect="1"/>
          </p:cNvPicPr>
          <p:nvPr/>
        </p:nvPicPr>
        <p:blipFill>
          <a:blip r:embed="rId4"/>
          <a:stretch>
            <a:fillRect/>
          </a:stretch>
        </p:blipFill>
        <p:spPr>
          <a:xfrm>
            <a:off x="7315200" y="3765309"/>
            <a:ext cx="6441757" cy="746760"/>
          </a:xfrm>
          <a:prstGeom prst="rect">
            <a:avLst/>
          </a:prstGeom>
        </p:spPr>
      </p:pic>
      <p:sp>
        <p:nvSpPr>
          <p:cNvPr id="12" name="Text 8"/>
          <p:cNvSpPr/>
          <p:nvPr/>
        </p:nvSpPr>
        <p:spPr>
          <a:xfrm>
            <a:off x="7501890" y="4665659"/>
            <a:ext cx="2333863" cy="291703"/>
          </a:xfrm>
          <a:prstGeom prst="rect">
            <a:avLst/>
          </a:prstGeom>
          <a:noFill/>
          <a:ln/>
        </p:spPr>
        <p:txBody>
          <a:bodyPr wrap="none" lIns="0" tIns="0" rIns="0" bIns="0" rtlCol="0" anchor="t"/>
          <a:lstStyle/>
          <a:p>
            <a:pPr marL="0" indent="0" algn="l">
              <a:lnSpc>
                <a:spcPts val="2250"/>
              </a:lnSpc>
              <a:buNone/>
            </a:pPr>
            <a:r>
              <a:rPr lang="en-US" sz="1800" dirty="0">
                <a:solidFill>
                  <a:srgbClr val="5B6E8C"/>
                </a:solidFill>
                <a:latin typeface="Alexandria Medium" pitchFamily="34" charset="0"/>
                <a:ea typeface="Alexandria Medium" pitchFamily="34" charset="-122"/>
                <a:cs typeface="Alexandria Medium" pitchFamily="34" charset="-120"/>
              </a:rPr>
              <a:t>Design</a:t>
            </a:r>
            <a:endParaRPr lang="en-US" sz="1800" dirty="0"/>
          </a:p>
        </p:txBody>
      </p:sp>
      <p:sp>
        <p:nvSpPr>
          <p:cNvPr id="13" name="Text 9"/>
          <p:cNvSpPr/>
          <p:nvPr/>
        </p:nvSpPr>
        <p:spPr>
          <a:xfrm>
            <a:off x="7501890" y="5049517"/>
            <a:ext cx="6068378" cy="272177"/>
          </a:xfrm>
          <a:prstGeom prst="rect">
            <a:avLst/>
          </a:prstGeom>
          <a:noFill/>
          <a:ln/>
        </p:spPr>
        <p:txBody>
          <a:bodyPr wrap="none" lIns="0" tIns="0" rIns="0" bIns="0" rtlCol="0" anchor="t"/>
          <a:lstStyle/>
          <a:p>
            <a:pPr marL="0" indent="0" algn="l">
              <a:lnSpc>
                <a:spcPts val="2100"/>
              </a:lnSpc>
              <a:buNone/>
            </a:pPr>
            <a:r>
              <a:rPr lang="en-US" sz="1450" dirty="0">
                <a:solidFill>
                  <a:srgbClr val="5B6E8C"/>
                </a:solidFill>
                <a:latin typeface="Manrope" pitchFamily="34" charset="0"/>
                <a:ea typeface="Manrope" pitchFamily="34" charset="-122"/>
                <a:cs typeface="Manrope" pitchFamily="34" charset="-120"/>
              </a:rPr>
              <a:t>System and database architecture</a:t>
            </a:r>
            <a:endParaRPr lang="en-US" sz="1450" dirty="0"/>
          </a:p>
        </p:txBody>
      </p:sp>
      <p:pic>
        <p:nvPicPr>
          <p:cNvPr id="14" name="Image 2" descr="preencoded.png"/>
          <p:cNvPicPr>
            <a:picLocks noChangeAspect="1"/>
          </p:cNvPicPr>
          <p:nvPr/>
        </p:nvPicPr>
        <p:blipFill>
          <a:blip r:embed="rId5"/>
          <a:stretch>
            <a:fillRect/>
          </a:stretch>
        </p:blipFill>
        <p:spPr>
          <a:xfrm>
            <a:off x="873443" y="5508384"/>
            <a:ext cx="6441757" cy="746760"/>
          </a:xfrm>
          <a:prstGeom prst="rect">
            <a:avLst/>
          </a:prstGeom>
        </p:spPr>
      </p:pic>
      <p:sp>
        <p:nvSpPr>
          <p:cNvPr id="15" name="Text 10"/>
          <p:cNvSpPr/>
          <p:nvPr/>
        </p:nvSpPr>
        <p:spPr>
          <a:xfrm>
            <a:off x="1060133" y="6408734"/>
            <a:ext cx="2333863" cy="291703"/>
          </a:xfrm>
          <a:prstGeom prst="rect">
            <a:avLst/>
          </a:prstGeom>
          <a:noFill/>
          <a:ln/>
        </p:spPr>
        <p:txBody>
          <a:bodyPr wrap="none" lIns="0" tIns="0" rIns="0" bIns="0" rtlCol="0" anchor="t"/>
          <a:lstStyle/>
          <a:p>
            <a:pPr marL="0" indent="0" algn="l">
              <a:lnSpc>
                <a:spcPts val="2250"/>
              </a:lnSpc>
              <a:buNone/>
            </a:pPr>
            <a:r>
              <a:rPr lang="en-US" sz="1800" dirty="0">
                <a:solidFill>
                  <a:srgbClr val="5B6E8C"/>
                </a:solidFill>
                <a:latin typeface="Alexandria Medium" pitchFamily="34" charset="0"/>
                <a:ea typeface="Alexandria Medium" pitchFamily="34" charset="-122"/>
                <a:cs typeface="Alexandria Medium" pitchFamily="34" charset="-120"/>
              </a:rPr>
              <a:t>Development</a:t>
            </a:r>
            <a:endParaRPr lang="en-US" sz="1800" dirty="0"/>
          </a:p>
        </p:txBody>
      </p:sp>
      <p:sp>
        <p:nvSpPr>
          <p:cNvPr id="16" name="Text 11"/>
          <p:cNvSpPr/>
          <p:nvPr/>
        </p:nvSpPr>
        <p:spPr>
          <a:xfrm>
            <a:off x="1060133" y="6792592"/>
            <a:ext cx="6068378" cy="272177"/>
          </a:xfrm>
          <a:prstGeom prst="rect">
            <a:avLst/>
          </a:prstGeom>
          <a:noFill/>
          <a:ln/>
        </p:spPr>
        <p:txBody>
          <a:bodyPr wrap="none" lIns="0" tIns="0" rIns="0" bIns="0" rtlCol="0" anchor="t"/>
          <a:lstStyle/>
          <a:p>
            <a:pPr marL="0" indent="0" algn="l">
              <a:lnSpc>
                <a:spcPts val="2100"/>
              </a:lnSpc>
              <a:buNone/>
            </a:pPr>
            <a:r>
              <a:rPr lang="en-US" sz="1450" dirty="0">
                <a:solidFill>
                  <a:srgbClr val="5B6E8C"/>
                </a:solidFill>
                <a:latin typeface="Manrope" pitchFamily="34" charset="0"/>
                <a:ea typeface="Manrope" pitchFamily="34" charset="-122"/>
                <a:cs typeface="Manrope" pitchFamily="34" charset="-120"/>
              </a:rPr>
              <a:t>API, mobile, and web implementation</a:t>
            </a:r>
            <a:endParaRPr lang="en-US" sz="1450" dirty="0"/>
          </a:p>
        </p:txBody>
      </p:sp>
      <p:pic>
        <p:nvPicPr>
          <p:cNvPr id="17" name="Image 3" descr="preencoded.png"/>
          <p:cNvPicPr>
            <a:picLocks noChangeAspect="1"/>
          </p:cNvPicPr>
          <p:nvPr/>
        </p:nvPicPr>
        <p:blipFill>
          <a:blip r:embed="rId6"/>
          <a:stretch>
            <a:fillRect/>
          </a:stretch>
        </p:blipFill>
        <p:spPr>
          <a:xfrm>
            <a:off x="7315200" y="5508384"/>
            <a:ext cx="6441757" cy="746760"/>
          </a:xfrm>
          <a:prstGeom prst="rect">
            <a:avLst/>
          </a:prstGeom>
        </p:spPr>
      </p:pic>
      <p:sp>
        <p:nvSpPr>
          <p:cNvPr id="18" name="Text 12"/>
          <p:cNvSpPr/>
          <p:nvPr/>
        </p:nvSpPr>
        <p:spPr>
          <a:xfrm>
            <a:off x="7501890" y="6408734"/>
            <a:ext cx="2333863" cy="291703"/>
          </a:xfrm>
          <a:prstGeom prst="rect">
            <a:avLst/>
          </a:prstGeom>
          <a:noFill/>
          <a:ln/>
        </p:spPr>
        <p:txBody>
          <a:bodyPr wrap="none" lIns="0" tIns="0" rIns="0" bIns="0" rtlCol="0" anchor="t"/>
          <a:lstStyle/>
          <a:p>
            <a:pPr marL="0" indent="0" algn="l">
              <a:lnSpc>
                <a:spcPts val="2250"/>
              </a:lnSpc>
              <a:buNone/>
            </a:pPr>
            <a:r>
              <a:rPr lang="en-US" sz="1800" dirty="0">
                <a:solidFill>
                  <a:srgbClr val="5B6E8C"/>
                </a:solidFill>
                <a:latin typeface="Alexandria Medium" pitchFamily="34" charset="0"/>
                <a:ea typeface="Alexandria Medium" pitchFamily="34" charset="-122"/>
                <a:cs typeface="Alexandria Medium" pitchFamily="34" charset="-120"/>
              </a:rPr>
              <a:t>Testing</a:t>
            </a:r>
            <a:endParaRPr lang="en-US" sz="1800" dirty="0"/>
          </a:p>
        </p:txBody>
      </p:sp>
      <p:sp>
        <p:nvSpPr>
          <p:cNvPr id="19" name="Text 13"/>
          <p:cNvSpPr/>
          <p:nvPr/>
        </p:nvSpPr>
        <p:spPr>
          <a:xfrm>
            <a:off x="7501890" y="6792592"/>
            <a:ext cx="6068378" cy="272177"/>
          </a:xfrm>
          <a:prstGeom prst="rect">
            <a:avLst/>
          </a:prstGeom>
          <a:noFill/>
          <a:ln/>
        </p:spPr>
        <p:txBody>
          <a:bodyPr wrap="none" lIns="0" tIns="0" rIns="0" bIns="0" rtlCol="0" anchor="t"/>
          <a:lstStyle/>
          <a:p>
            <a:pPr marL="0" indent="0" algn="l">
              <a:lnSpc>
                <a:spcPts val="2100"/>
              </a:lnSpc>
              <a:buNone/>
            </a:pPr>
            <a:r>
              <a:rPr lang="en-US" sz="1450" dirty="0">
                <a:solidFill>
                  <a:srgbClr val="5B6E8C"/>
                </a:solidFill>
                <a:latin typeface="Manrope" pitchFamily="34" charset="0"/>
                <a:ea typeface="Manrope" pitchFamily="34" charset="-122"/>
                <a:cs typeface="Manrope" pitchFamily="34" charset="-120"/>
              </a:rPr>
              <a:t>Quality assurance and deployment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82241" y="628769"/>
            <a:ext cx="5587841" cy="698421"/>
          </a:xfrm>
          <a:prstGeom prst="rect">
            <a:avLst/>
          </a:prstGeom>
          <a:noFill/>
          <a:ln/>
        </p:spPr>
        <p:txBody>
          <a:bodyPr wrap="none" lIns="0" tIns="0" rIns="0" bIns="0" rtlCol="0" anchor="t"/>
          <a:lstStyle/>
          <a:p>
            <a:pPr marL="0" indent="0" algn="l">
              <a:lnSpc>
                <a:spcPts val="5450"/>
              </a:lnSpc>
              <a:buNone/>
            </a:pPr>
            <a:r>
              <a:rPr lang="en-US" sz="4350" dirty="0">
                <a:solidFill>
                  <a:srgbClr val="5B6E8C"/>
                </a:solidFill>
                <a:latin typeface="Alexandria Medium" pitchFamily="34" charset="0"/>
                <a:ea typeface="Alexandria Medium" pitchFamily="34" charset="-122"/>
                <a:cs typeface="Alexandria Medium" pitchFamily="34" charset="-120"/>
              </a:rPr>
              <a:t>Expected Impact</a:t>
            </a:r>
            <a:endParaRPr lang="en-US" sz="4350" dirty="0"/>
          </a:p>
        </p:txBody>
      </p:sp>
      <p:sp>
        <p:nvSpPr>
          <p:cNvPr id="3" name="Text 1"/>
          <p:cNvSpPr/>
          <p:nvPr/>
        </p:nvSpPr>
        <p:spPr>
          <a:xfrm>
            <a:off x="1493401" y="3220283"/>
            <a:ext cx="2749153" cy="558760"/>
          </a:xfrm>
          <a:prstGeom prst="rect">
            <a:avLst/>
          </a:prstGeom>
          <a:noFill/>
          <a:ln/>
        </p:spPr>
        <p:txBody>
          <a:bodyPr wrap="none" lIns="0" tIns="0" rIns="0" bIns="0" rtlCol="0" anchor="t"/>
          <a:lstStyle/>
          <a:p>
            <a:pPr marL="0" indent="0" algn="ctr">
              <a:lnSpc>
                <a:spcPts val="4350"/>
              </a:lnSpc>
              <a:buNone/>
            </a:pPr>
            <a:r>
              <a:rPr lang="en-US" sz="4350" dirty="0">
                <a:solidFill>
                  <a:srgbClr val="5B6E8C"/>
                </a:solidFill>
                <a:latin typeface="Alexandria Medium" pitchFamily="34" charset="0"/>
                <a:ea typeface="Alexandria Medium" pitchFamily="34" charset="-122"/>
                <a:cs typeface="Alexandria Medium" pitchFamily="34" charset="-120"/>
              </a:rPr>
              <a:t>60%</a:t>
            </a:r>
            <a:endParaRPr lang="en-US" sz="4350" dirty="0"/>
          </a:p>
        </p:txBody>
      </p:sp>
      <p:pic>
        <p:nvPicPr>
          <p:cNvPr id="4" name="Image 0" descr="preencoded.png"/>
          <p:cNvPicPr>
            <a:picLocks noChangeAspect="1"/>
          </p:cNvPicPr>
          <p:nvPr/>
        </p:nvPicPr>
        <p:blipFill>
          <a:blip r:embed="rId3"/>
          <a:stretch>
            <a:fillRect/>
          </a:stretch>
        </p:blipFill>
        <p:spPr>
          <a:xfrm>
            <a:off x="1191697" y="1823442"/>
            <a:ext cx="3352681" cy="3352681"/>
          </a:xfrm>
          <a:prstGeom prst="rect">
            <a:avLst/>
          </a:prstGeom>
        </p:spPr>
      </p:pic>
      <p:sp>
        <p:nvSpPr>
          <p:cNvPr id="5" name="Text 2"/>
          <p:cNvSpPr/>
          <p:nvPr/>
        </p:nvSpPr>
        <p:spPr>
          <a:xfrm>
            <a:off x="1471136" y="5452110"/>
            <a:ext cx="2793921" cy="349210"/>
          </a:xfrm>
          <a:prstGeom prst="rect">
            <a:avLst/>
          </a:prstGeom>
          <a:noFill/>
          <a:ln/>
        </p:spPr>
        <p:txBody>
          <a:bodyPr wrap="none" lIns="0" tIns="0" rIns="0" bIns="0" rtlCol="0" anchor="t"/>
          <a:lstStyle/>
          <a:p>
            <a:pPr marL="0" indent="0" algn="ctr">
              <a:lnSpc>
                <a:spcPts val="2700"/>
              </a:lnSpc>
              <a:buNone/>
            </a:pPr>
            <a:r>
              <a:rPr lang="en-US" sz="2150" dirty="0">
                <a:solidFill>
                  <a:srgbClr val="5B6E8C"/>
                </a:solidFill>
                <a:latin typeface="Alexandria Medium" pitchFamily="34" charset="0"/>
                <a:ea typeface="Alexandria Medium" pitchFamily="34" charset="-122"/>
                <a:cs typeface="Alexandria Medium" pitchFamily="34" charset="-120"/>
              </a:rPr>
              <a:t>Faster Response</a:t>
            </a:r>
            <a:endParaRPr lang="en-US" sz="2150" dirty="0"/>
          </a:p>
        </p:txBody>
      </p:sp>
      <p:sp>
        <p:nvSpPr>
          <p:cNvPr id="6" name="Text 3"/>
          <p:cNvSpPr/>
          <p:nvPr/>
        </p:nvSpPr>
        <p:spPr>
          <a:xfrm>
            <a:off x="782241" y="5933361"/>
            <a:ext cx="4171712" cy="354925"/>
          </a:xfrm>
          <a:prstGeom prst="rect">
            <a:avLst/>
          </a:prstGeom>
          <a:noFill/>
          <a:ln/>
        </p:spPr>
        <p:txBody>
          <a:bodyPr wrap="none" lIns="0" tIns="0" rIns="0" bIns="0" rtlCol="0" anchor="t"/>
          <a:lstStyle/>
          <a:p>
            <a:pPr marL="0" indent="0" algn="ctr">
              <a:lnSpc>
                <a:spcPts val="2750"/>
              </a:lnSpc>
              <a:buNone/>
            </a:pPr>
            <a:r>
              <a:rPr lang="en-US" sz="1750" dirty="0">
                <a:solidFill>
                  <a:srgbClr val="5B6E8C"/>
                </a:solidFill>
                <a:latin typeface="Manrope" pitchFamily="34" charset="0"/>
                <a:ea typeface="Manrope" pitchFamily="34" charset="-122"/>
                <a:cs typeface="Manrope" pitchFamily="34" charset="-120"/>
              </a:rPr>
              <a:t>Reduction in emergency response time</a:t>
            </a:r>
            <a:endParaRPr lang="en-US" sz="1750" dirty="0"/>
          </a:p>
        </p:txBody>
      </p:sp>
      <p:sp>
        <p:nvSpPr>
          <p:cNvPr id="7" name="Text 4"/>
          <p:cNvSpPr/>
          <p:nvPr/>
        </p:nvSpPr>
        <p:spPr>
          <a:xfrm>
            <a:off x="5940504" y="3220283"/>
            <a:ext cx="2749153" cy="558760"/>
          </a:xfrm>
          <a:prstGeom prst="rect">
            <a:avLst/>
          </a:prstGeom>
          <a:noFill/>
          <a:ln/>
        </p:spPr>
        <p:txBody>
          <a:bodyPr wrap="none" lIns="0" tIns="0" rIns="0" bIns="0" rtlCol="0" anchor="t"/>
          <a:lstStyle/>
          <a:p>
            <a:pPr marL="0" indent="0" algn="ctr">
              <a:lnSpc>
                <a:spcPts val="4350"/>
              </a:lnSpc>
              <a:buNone/>
            </a:pPr>
            <a:r>
              <a:rPr lang="en-US" sz="4350" dirty="0">
                <a:solidFill>
                  <a:srgbClr val="5B6E8C"/>
                </a:solidFill>
                <a:latin typeface="Alexandria Medium" pitchFamily="34" charset="0"/>
                <a:ea typeface="Alexandria Medium" pitchFamily="34" charset="-122"/>
                <a:cs typeface="Alexandria Medium" pitchFamily="34" charset="-120"/>
              </a:rPr>
              <a:t>75%</a:t>
            </a:r>
            <a:endParaRPr lang="en-US" sz="4350" dirty="0"/>
          </a:p>
        </p:txBody>
      </p:sp>
      <p:pic>
        <p:nvPicPr>
          <p:cNvPr id="8" name="Image 1" descr="preencoded.png"/>
          <p:cNvPicPr>
            <a:picLocks noChangeAspect="1"/>
          </p:cNvPicPr>
          <p:nvPr/>
        </p:nvPicPr>
        <p:blipFill>
          <a:blip r:embed="rId4"/>
          <a:stretch>
            <a:fillRect/>
          </a:stretch>
        </p:blipFill>
        <p:spPr>
          <a:xfrm>
            <a:off x="5638800" y="1823442"/>
            <a:ext cx="3352681" cy="3352681"/>
          </a:xfrm>
          <a:prstGeom prst="rect">
            <a:avLst/>
          </a:prstGeom>
        </p:spPr>
      </p:pic>
      <p:sp>
        <p:nvSpPr>
          <p:cNvPr id="9" name="Text 5"/>
          <p:cNvSpPr/>
          <p:nvPr/>
        </p:nvSpPr>
        <p:spPr>
          <a:xfrm>
            <a:off x="5918121" y="5452110"/>
            <a:ext cx="2793921" cy="349210"/>
          </a:xfrm>
          <a:prstGeom prst="rect">
            <a:avLst/>
          </a:prstGeom>
          <a:noFill/>
          <a:ln/>
        </p:spPr>
        <p:txBody>
          <a:bodyPr wrap="none" lIns="0" tIns="0" rIns="0" bIns="0" rtlCol="0" anchor="t"/>
          <a:lstStyle/>
          <a:p>
            <a:pPr marL="0" indent="0" algn="ctr">
              <a:lnSpc>
                <a:spcPts val="2700"/>
              </a:lnSpc>
              <a:buNone/>
            </a:pPr>
            <a:r>
              <a:rPr lang="en-US" sz="2150" dirty="0">
                <a:solidFill>
                  <a:srgbClr val="5B6E8C"/>
                </a:solidFill>
                <a:latin typeface="Alexandria Medium" pitchFamily="34" charset="0"/>
                <a:ea typeface="Alexandria Medium" pitchFamily="34" charset="-122"/>
                <a:cs typeface="Alexandria Medium" pitchFamily="34" charset="-120"/>
              </a:rPr>
              <a:t>Fewer Pranks</a:t>
            </a:r>
            <a:endParaRPr lang="en-US" sz="2150" dirty="0"/>
          </a:p>
        </p:txBody>
      </p:sp>
      <p:sp>
        <p:nvSpPr>
          <p:cNvPr id="10" name="Text 6"/>
          <p:cNvSpPr/>
          <p:nvPr/>
        </p:nvSpPr>
        <p:spPr>
          <a:xfrm>
            <a:off x="5229225" y="5933361"/>
            <a:ext cx="4171831" cy="354925"/>
          </a:xfrm>
          <a:prstGeom prst="rect">
            <a:avLst/>
          </a:prstGeom>
          <a:noFill/>
          <a:ln/>
        </p:spPr>
        <p:txBody>
          <a:bodyPr wrap="none" lIns="0" tIns="0" rIns="0" bIns="0" rtlCol="0" anchor="t"/>
          <a:lstStyle/>
          <a:p>
            <a:pPr marL="0" indent="0" algn="ctr">
              <a:lnSpc>
                <a:spcPts val="2750"/>
              </a:lnSpc>
              <a:buNone/>
            </a:pPr>
            <a:r>
              <a:rPr lang="en-US" sz="1750" dirty="0">
                <a:solidFill>
                  <a:srgbClr val="5B6E8C"/>
                </a:solidFill>
                <a:latin typeface="Manrope" pitchFamily="34" charset="0"/>
                <a:ea typeface="Manrope" pitchFamily="34" charset="-122"/>
                <a:cs typeface="Manrope" pitchFamily="34" charset="-120"/>
              </a:rPr>
              <a:t>Decrease in false emergency reports</a:t>
            </a:r>
            <a:endParaRPr lang="en-US" sz="1750" dirty="0"/>
          </a:p>
        </p:txBody>
      </p:sp>
      <p:sp>
        <p:nvSpPr>
          <p:cNvPr id="11" name="Text 7"/>
          <p:cNvSpPr/>
          <p:nvPr/>
        </p:nvSpPr>
        <p:spPr>
          <a:xfrm>
            <a:off x="10387489" y="3220283"/>
            <a:ext cx="2749153" cy="558760"/>
          </a:xfrm>
          <a:prstGeom prst="rect">
            <a:avLst/>
          </a:prstGeom>
          <a:noFill/>
          <a:ln/>
        </p:spPr>
        <p:txBody>
          <a:bodyPr wrap="none" lIns="0" tIns="0" rIns="0" bIns="0" rtlCol="0" anchor="t"/>
          <a:lstStyle/>
          <a:p>
            <a:pPr marL="0" indent="0" algn="ctr">
              <a:lnSpc>
                <a:spcPts val="4350"/>
              </a:lnSpc>
              <a:buNone/>
            </a:pPr>
            <a:r>
              <a:rPr lang="en-US" sz="4350" dirty="0">
                <a:solidFill>
                  <a:srgbClr val="5B6E8C"/>
                </a:solidFill>
                <a:latin typeface="Alexandria Medium" pitchFamily="34" charset="0"/>
                <a:ea typeface="Alexandria Medium" pitchFamily="34" charset="-122"/>
                <a:cs typeface="Alexandria Medium" pitchFamily="34" charset="-120"/>
              </a:rPr>
              <a:t>90%</a:t>
            </a:r>
            <a:endParaRPr lang="en-US" sz="4350" dirty="0"/>
          </a:p>
        </p:txBody>
      </p:sp>
      <p:pic>
        <p:nvPicPr>
          <p:cNvPr id="12" name="Image 2" descr="preencoded.png"/>
          <p:cNvPicPr>
            <a:picLocks noChangeAspect="1"/>
          </p:cNvPicPr>
          <p:nvPr/>
        </p:nvPicPr>
        <p:blipFill>
          <a:blip r:embed="rId5"/>
          <a:stretch>
            <a:fillRect/>
          </a:stretch>
        </p:blipFill>
        <p:spPr>
          <a:xfrm>
            <a:off x="10085784" y="1823442"/>
            <a:ext cx="3352681" cy="3352681"/>
          </a:xfrm>
          <a:prstGeom prst="rect">
            <a:avLst/>
          </a:prstGeom>
        </p:spPr>
      </p:pic>
      <p:sp>
        <p:nvSpPr>
          <p:cNvPr id="13" name="Text 8"/>
          <p:cNvSpPr/>
          <p:nvPr/>
        </p:nvSpPr>
        <p:spPr>
          <a:xfrm>
            <a:off x="10365224" y="5452110"/>
            <a:ext cx="2793921" cy="349210"/>
          </a:xfrm>
          <a:prstGeom prst="rect">
            <a:avLst/>
          </a:prstGeom>
          <a:noFill/>
          <a:ln/>
        </p:spPr>
        <p:txBody>
          <a:bodyPr wrap="none" lIns="0" tIns="0" rIns="0" bIns="0" rtlCol="0" anchor="t"/>
          <a:lstStyle/>
          <a:p>
            <a:pPr marL="0" indent="0" algn="ctr">
              <a:lnSpc>
                <a:spcPts val="2700"/>
              </a:lnSpc>
              <a:buNone/>
            </a:pPr>
            <a:r>
              <a:rPr lang="en-US" sz="2150" dirty="0">
                <a:solidFill>
                  <a:srgbClr val="5B6E8C"/>
                </a:solidFill>
                <a:latin typeface="Alexandria Medium" pitchFamily="34" charset="0"/>
                <a:ea typeface="Alexandria Medium" pitchFamily="34" charset="-122"/>
                <a:cs typeface="Alexandria Medium" pitchFamily="34" charset="-120"/>
              </a:rPr>
              <a:t>Better Coordination</a:t>
            </a:r>
            <a:endParaRPr lang="en-US" sz="2150" dirty="0"/>
          </a:p>
        </p:txBody>
      </p:sp>
      <p:sp>
        <p:nvSpPr>
          <p:cNvPr id="14" name="Text 9"/>
          <p:cNvSpPr/>
          <p:nvPr/>
        </p:nvSpPr>
        <p:spPr>
          <a:xfrm>
            <a:off x="9676328" y="5933361"/>
            <a:ext cx="4171712" cy="709851"/>
          </a:xfrm>
          <a:prstGeom prst="rect">
            <a:avLst/>
          </a:prstGeom>
          <a:noFill/>
          <a:ln/>
        </p:spPr>
        <p:txBody>
          <a:bodyPr wrap="square" lIns="0" tIns="0" rIns="0" bIns="0" rtlCol="0" anchor="t"/>
          <a:lstStyle/>
          <a:p>
            <a:pPr marL="0" indent="0" algn="ctr">
              <a:lnSpc>
                <a:spcPts val="2750"/>
              </a:lnSpc>
              <a:buNone/>
            </a:pPr>
            <a:r>
              <a:rPr lang="en-US" sz="1750" dirty="0">
                <a:solidFill>
                  <a:srgbClr val="5B6E8C"/>
                </a:solidFill>
                <a:latin typeface="Manrope" pitchFamily="34" charset="0"/>
                <a:ea typeface="Manrope" pitchFamily="34" charset="-122"/>
                <a:cs typeface="Manrope" pitchFamily="34" charset="-120"/>
              </a:rPr>
              <a:t>Improvement in inter-agency collaboration</a:t>
            </a:r>
            <a:endParaRPr lang="en-US" sz="1750" dirty="0"/>
          </a:p>
        </p:txBody>
      </p:sp>
      <p:sp>
        <p:nvSpPr>
          <p:cNvPr id="15" name="Text 10"/>
          <p:cNvSpPr/>
          <p:nvPr/>
        </p:nvSpPr>
        <p:spPr>
          <a:xfrm>
            <a:off x="782241" y="6890980"/>
            <a:ext cx="13065919" cy="709851"/>
          </a:xfrm>
          <a:prstGeom prst="rect">
            <a:avLst/>
          </a:prstGeom>
          <a:noFill/>
          <a:ln/>
        </p:spPr>
        <p:txBody>
          <a:bodyPr wrap="square" lIns="0" tIns="0" rIns="0" bIns="0" rtlCol="0" anchor="t"/>
          <a:lstStyle/>
          <a:p>
            <a:pPr marL="0" indent="0" algn="l">
              <a:lnSpc>
                <a:spcPts val="2750"/>
              </a:lnSpc>
              <a:buNone/>
            </a:pPr>
            <a:r>
              <a:rPr lang="en-US" sz="1750" dirty="0">
                <a:solidFill>
                  <a:srgbClr val="5B6E8C"/>
                </a:solidFill>
                <a:latin typeface="Manrope" pitchFamily="34" charset="0"/>
                <a:ea typeface="Manrope" pitchFamily="34" charset="-122"/>
                <a:cs typeface="Manrope" pitchFamily="34" charset="-120"/>
              </a:rPr>
              <a:t>This platform will save lives, reduce property loss, and align with Ghana's digital transformation agenda while enhancing public trust in security services.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997029" y="518993"/>
            <a:ext cx="1358860" cy="321588"/>
          </a:xfrm>
          <a:prstGeom prst="roundRect">
            <a:avLst>
              <a:gd name="adj" fmla="val 68337"/>
            </a:avLst>
          </a:prstGeom>
          <a:solidFill>
            <a:srgbClr val="CDEFFE"/>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106805" y="606504"/>
            <a:ext cx="146447" cy="146447"/>
          </a:xfrm>
          <a:prstGeom prst="rect">
            <a:avLst/>
          </a:prstGeom>
        </p:spPr>
      </p:pic>
      <p:sp>
        <p:nvSpPr>
          <p:cNvPr id="4" name="Text 1"/>
          <p:cNvSpPr/>
          <p:nvPr/>
        </p:nvSpPr>
        <p:spPr>
          <a:xfrm>
            <a:off x="1326475" y="573881"/>
            <a:ext cx="919639" cy="211812"/>
          </a:xfrm>
          <a:prstGeom prst="rect">
            <a:avLst/>
          </a:prstGeom>
          <a:noFill/>
          <a:ln/>
        </p:spPr>
        <p:txBody>
          <a:bodyPr wrap="none" lIns="0" tIns="0" rIns="0" bIns="0" rtlCol="0" anchor="t"/>
          <a:lstStyle/>
          <a:p>
            <a:pPr marL="0" indent="0" algn="l">
              <a:lnSpc>
                <a:spcPts val="1650"/>
              </a:lnSpc>
              <a:buNone/>
            </a:pPr>
            <a:r>
              <a:rPr lang="en-US" sz="1150" dirty="0">
                <a:solidFill>
                  <a:srgbClr val="5B6E8C"/>
                </a:solidFill>
                <a:latin typeface="Manrope" pitchFamily="34" charset="0"/>
                <a:ea typeface="Manrope" pitchFamily="34" charset="-122"/>
                <a:cs typeface="Manrope" pitchFamily="34" charset="-120"/>
              </a:rPr>
              <a:t>CONCLUSION</a:t>
            </a:r>
            <a:endParaRPr lang="en-US" sz="1150" dirty="0"/>
          </a:p>
        </p:txBody>
      </p:sp>
      <p:sp>
        <p:nvSpPr>
          <p:cNvPr id="5" name="Text 2"/>
          <p:cNvSpPr/>
          <p:nvPr/>
        </p:nvSpPr>
        <p:spPr>
          <a:xfrm>
            <a:off x="997029" y="899636"/>
            <a:ext cx="8146018" cy="572214"/>
          </a:xfrm>
          <a:prstGeom prst="rect">
            <a:avLst/>
          </a:prstGeom>
          <a:noFill/>
          <a:ln/>
        </p:spPr>
        <p:txBody>
          <a:bodyPr wrap="none" lIns="0" tIns="0" rIns="0" bIns="0" rtlCol="0" anchor="t"/>
          <a:lstStyle/>
          <a:p>
            <a:pPr marL="0" indent="0" algn="l">
              <a:lnSpc>
                <a:spcPts val="4500"/>
              </a:lnSpc>
              <a:buNone/>
            </a:pPr>
            <a:r>
              <a:rPr lang="en-US" sz="3600" dirty="0">
                <a:solidFill>
                  <a:srgbClr val="5B6E8C"/>
                </a:solidFill>
                <a:latin typeface="Alexandria Medium" pitchFamily="34" charset="0"/>
                <a:ea typeface="Alexandria Medium" pitchFamily="34" charset="-122"/>
                <a:cs typeface="Alexandria Medium" pitchFamily="34" charset="-120"/>
              </a:rPr>
              <a:t>Transforming Emergency Response</a:t>
            </a:r>
            <a:endParaRPr lang="en-US" sz="3600" dirty="0"/>
          </a:p>
        </p:txBody>
      </p:sp>
      <p:pic>
        <p:nvPicPr>
          <p:cNvPr id="6" name="Image 1" descr="preencoded.png"/>
          <p:cNvPicPr>
            <a:picLocks noChangeAspect="1"/>
          </p:cNvPicPr>
          <p:nvPr/>
        </p:nvPicPr>
        <p:blipFill>
          <a:blip r:embed="rId5"/>
          <a:stretch>
            <a:fillRect/>
          </a:stretch>
        </p:blipFill>
        <p:spPr>
          <a:xfrm>
            <a:off x="997029" y="1859875"/>
            <a:ext cx="8057198" cy="4496991"/>
          </a:xfrm>
          <a:prstGeom prst="rect">
            <a:avLst/>
          </a:prstGeom>
        </p:spPr>
      </p:pic>
      <p:sp>
        <p:nvSpPr>
          <p:cNvPr id="7" name="Text 3"/>
          <p:cNvSpPr/>
          <p:nvPr/>
        </p:nvSpPr>
        <p:spPr>
          <a:xfrm>
            <a:off x="9508569" y="3446621"/>
            <a:ext cx="4132302" cy="1323380"/>
          </a:xfrm>
          <a:prstGeom prst="rect">
            <a:avLst/>
          </a:prstGeom>
          <a:noFill/>
          <a:ln/>
        </p:spPr>
        <p:txBody>
          <a:bodyPr wrap="square" lIns="0" tIns="0" rIns="0" bIns="0" rtlCol="0" anchor="t"/>
          <a:lstStyle/>
          <a:p>
            <a:pPr marL="0" indent="0" algn="l">
              <a:lnSpc>
                <a:spcPts val="2050"/>
              </a:lnSpc>
              <a:buNone/>
            </a:pPr>
            <a:r>
              <a:rPr lang="en-US" sz="1400" dirty="0">
                <a:solidFill>
                  <a:srgbClr val="5B6E8C"/>
                </a:solidFill>
                <a:latin typeface="Manrope" pitchFamily="34" charset="0"/>
                <a:ea typeface="Manrope" pitchFamily="34" charset="-122"/>
                <a:cs typeface="Manrope" pitchFamily="34" charset="-120"/>
              </a:rPr>
              <a:t>This project delivers a modern, secure, and intelligent emergency reporting platform that enhances public safety, improves emergency service efficiency, and supports Ghana's national security objectives.</a:t>
            </a:r>
            <a:endParaRPr lang="en-US" sz="1400" dirty="0"/>
          </a:p>
        </p:txBody>
      </p:sp>
      <p:sp>
        <p:nvSpPr>
          <p:cNvPr id="8" name="Shape 4"/>
          <p:cNvSpPr/>
          <p:nvPr/>
        </p:nvSpPr>
        <p:spPr>
          <a:xfrm>
            <a:off x="997029" y="6689527"/>
            <a:ext cx="4113609" cy="1020961"/>
          </a:xfrm>
          <a:prstGeom prst="roundRect">
            <a:avLst>
              <a:gd name="adj" fmla="val 26906"/>
            </a:avLst>
          </a:prstGeom>
          <a:solidFill>
            <a:srgbClr val="E6F7FF"/>
          </a:solidFill>
          <a:ln w="7620">
            <a:solidFill>
              <a:srgbClr val="B3D5E4"/>
            </a:solidFill>
            <a:prstDash val="solid"/>
          </a:ln>
        </p:spPr>
      </p:sp>
      <p:sp>
        <p:nvSpPr>
          <p:cNvPr id="9" name="Text 5"/>
          <p:cNvSpPr/>
          <p:nvPr/>
        </p:nvSpPr>
        <p:spPr>
          <a:xfrm>
            <a:off x="1187768" y="6880265"/>
            <a:ext cx="2289096" cy="286107"/>
          </a:xfrm>
          <a:prstGeom prst="rect">
            <a:avLst/>
          </a:prstGeom>
          <a:noFill/>
          <a:ln/>
        </p:spPr>
        <p:txBody>
          <a:bodyPr wrap="none" lIns="0" tIns="0" rIns="0" bIns="0" rtlCol="0" anchor="t"/>
          <a:lstStyle/>
          <a:p>
            <a:pPr marL="0" indent="0" algn="l">
              <a:lnSpc>
                <a:spcPts val="2250"/>
              </a:lnSpc>
              <a:buNone/>
            </a:pPr>
            <a:r>
              <a:rPr lang="en-US" sz="1800" dirty="0">
                <a:solidFill>
                  <a:srgbClr val="000000"/>
                </a:solidFill>
                <a:latin typeface="Alexandria Medium" pitchFamily="34" charset="0"/>
                <a:ea typeface="Alexandria Medium" pitchFamily="34" charset="-122"/>
                <a:cs typeface="Alexandria Medium" pitchFamily="34" charset="-120"/>
              </a:rPr>
              <a:t>Modern Solution</a:t>
            </a:r>
            <a:endParaRPr lang="en-US" sz="1800" dirty="0"/>
          </a:p>
        </p:txBody>
      </p:sp>
      <p:sp>
        <p:nvSpPr>
          <p:cNvPr id="10" name="Text 6"/>
          <p:cNvSpPr/>
          <p:nvPr/>
        </p:nvSpPr>
        <p:spPr>
          <a:xfrm>
            <a:off x="1187768" y="7255073"/>
            <a:ext cx="3732133" cy="264676"/>
          </a:xfrm>
          <a:prstGeom prst="rect">
            <a:avLst/>
          </a:prstGeom>
          <a:noFill/>
          <a:ln/>
        </p:spPr>
        <p:txBody>
          <a:bodyPr wrap="none" lIns="0" tIns="0" rIns="0" bIns="0" rtlCol="0" anchor="t"/>
          <a:lstStyle/>
          <a:p>
            <a:pPr marL="0" indent="0" algn="l">
              <a:lnSpc>
                <a:spcPts val="2050"/>
              </a:lnSpc>
              <a:buNone/>
            </a:pPr>
            <a:r>
              <a:rPr lang="en-US" sz="1400" dirty="0">
                <a:solidFill>
                  <a:srgbClr val="000000"/>
                </a:solidFill>
                <a:latin typeface="Manrope" pitchFamily="34" charset="0"/>
                <a:ea typeface="Manrope" pitchFamily="34" charset="-122"/>
                <a:cs typeface="Manrope" pitchFamily="34" charset="-120"/>
              </a:rPr>
              <a:t>Leveraging mobile and web technology</a:t>
            </a:r>
            <a:endParaRPr lang="en-US" sz="1400" dirty="0"/>
          </a:p>
        </p:txBody>
      </p:sp>
      <p:sp>
        <p:nvSpPr>
          <p:cNvPr id="11" name="Shape 7"/>
          <p:cNvSpPr/>
          <p:nvPr/>
        </p:nvSpPr>
        <p:spPr>
          <a:xfrm>
            <a:off x="5258395" y="6689527"/>
            <a:ext cx="4113609" cy="1020961"/>
          </a:xfrm>
          <a:prstGeom prst="roundRect">
            <a:avLst>
              <a:gd name="adj" fmla="val 26906"/>
            </a:avLst>
          </a:prstGeom>
          <a:solidFill>
            <a:srgbClr val="E6F7FF"/>
          </a:solidFill>
          <a:ln w="7620">
            <a:solidFill>
              <a:srgbClr val="B3D5E4"/>
            </a:solidFill>
            <a:prstDash val="solid"/>
          </a:ln>
        </p:spPr>
      </p:sp>
      <p:sp>
        <p:nvSpPr>
          <p:cNvPr id="12" name="Text 8"/>
          <p:cNvSpPr/>
          <p:nvPr/>
        </p:nvSpPr>
        <p:spPr>
          <a:xfrm>
            <a:off x="5449133" y="6880265"/>
            <a:ext cx="2289096" cy="286107"/>
          </a:xfrm>
          <a:prstGeom prst="rect">
            <a:avLst/>
          </a:prstGeom>
          <a:noFill/>
          <a:ln/>
        </p:spPr>
        <p:txBody>
          <a:bodyPr wrap="none" lIns="0" tIns="0" rIns="0" bIns="0" rtlCol="0" anchor="t"/>
          <a:lstStyle/>
          <a:p>
            <a:pPr marL="0" indent="0" algn="l">
              <a:lnSpc>
                <a:spcPts val="2250"/>
              </a:lnSpc>
              <a:buNone/>
            </a:pPr>
            <a:r>
              <a:rPr lang="en-US" sz="1800" dirty="0">
                <a:solidFill>
                  <a:srgbClr val="000000"/>
                </a:solidFill>
                <a:latin typeface="Alexandria Medium" pitchFamily="34" charset="0"/>
                <a:ea typeface="Alexandria Medium" pitchFamily="34" charset="-122"/>
                <a:cs typeface="Alexandria Medium" pitchFamily="34" charset="-120"/>
              </a:rPr>
              <a:t>Enhanced Safety</a:t>
            </a:r>
            <a:endParaRPr lang="en-US" sz="1800" dirty="0"/>
          </a:p>
        </p:txBody>
      </p:sp>
      <p:sp>
        <p:nvSpPr>
          <p:cNvPr id="13" name="Text 9"/>
          <p:cNvSpPr/>
          <p:nvPr/>
        </p:nvSpPr>
        <p:spPr>
          <a:xfrm>
            <a:off x="5449133" y="7255073"/>
            <a:ext cx="3732133" cy="264676"/>
          </a:xfrm>
          <a:prstGeom prst="rect">
            <a:avLst/>
          </a:prstGeom>
          <a:noFill/>
          <a:ln/>
        </p:spPr>
        <p:txBody>
          <a:bodyPr wrap="none" lIns="0" tIns="0" rIns="0" bIns="0" rtlCol="0" anchor="t"/>
          <a:lstStyle/>
          <a:p>
            <a:pPr marL="0" indent="0" algn="l">
              <a:lnSpc>
                <a:spcPts val="2050"/>
              </a:lnSpc>
              <a:buNone/>
            </a:pPr>
            <a:r>
              <a:rPr lang="en-US" sz="1400" dirty="0">
                <a:solidFill>
                  <a:srgbClr val="000000"/>
                </a:solidFill>
                <a:latin typeface="Manrope" pitchFamily="34" charset="0"/>
                <a:ea typeface="Manrope" pitchFamily="34" charset="-122"/>
                <a:cs typeface="Manrope" pitchFamily="34" charset="-120"/>
              </a:rPr>
              <a:t>Protecting lives and property</a:t>
            </a:r>
            <a:endParaRPr lang="en-US" sz="1400" dirty="0"/>
          </a:p>
        </p:txBody>
      </p:sp>
      <p:sp>
        <p:nvSpPr>
          <p:cNvPr id="14" name="Shape 10"/>
          <p:cNvSpPr/>
          <p:nvPr/>
        </p:nvSpPr>
        <p:spPr>
          <a:xfrm>
            <a:off x="9519761" y="6689527"/>
            <a:ext cx="4113609" cy="1020961"/>
          </a:xfrm>
          <a:prstGeom prst="roundRect">
            <a:avLst>
              <a:gd name="adj" fmla="val 26906"/>
            </a:avLst>
          </a:prstGeom>
          <a:solidFill>
            <a:srgbClr val="E6F7FF"/>
          </a:solidFill>
          <a:ln w="7620">
            <a:solidFill>
              <a:srgbClr val="B3D5E4"/>
            </a:solidFill>
            <a:prstDash val="solid"/>
          </a:ln>
        </p:spPr>
      </p:sp>
      <p:sp>
        <p:nvSpPr>
          <p:cNvPr id="15" name="Text 11"/>
          <p:cNvSpPr/>
          <p:nvPr/>
        </p:nvSpPr>
        <p:spPr>
          <a:xfrm>
            <a:off x="9710499" y="6880265"/>
            <a:ext cx="2289096" cy="286107"/>
          </a:xfrm>
          <a:prstGeom prst="rect">
            <a:avLst/>
          </a:prstGeom>
          <a:noFill/>
          <a:ln/>
        </p:spPr>
        <p:txBody>
          <a:bodyPr wrap="none" lIns="0" tIns="0" rIns="0" bIns="0" rtlCol="0" anchor="t"/>
          <a:lstStyle/>
          <a:p>
            <a:pPr marL="0" indent="0" algn="l">
              <a:lnSpc>
                <a:spcPts val="2250"/>
              </a:lnSpc>
              <a:buNone/>
            </a:pPr>
            <a:r>
              <a:rPr lang="en-US" sz="1800" dirty="0">
                <a:solidFill>
                  <a:srgbClr val="000000"/>
                </a:solidFill>
                <a:latin typeface="Alexandria Medium" pitchFamily="34" charset="0"/>
                <a:ea typeface="Alexandria Medium" pitchFamily="34" charset="-122"/>
                <a:cs typeface="Alexandria Medium" pitchFamily="34" charset="-120"/>
              </a:rPr>
              <a:t>National Impact</a:t>
            </a:r>
            <a:endParaRPr lang="en-US" sz="1800" dirty="0"/>
          </a:p>
        </p:txBody>
      </p:sp>
      <p:sp>
        <p:nvSpPr>
          <p:cNvPr id="16" name="Text 12"/>
          <p:cNvSpPr/>
          <p:nvPr/>
        </p:nvSpPr>
        <p:spPr>
          <a:xfrm>
            <a:off x="9710499" y="7255073"/>
            <a:ext cx="3732133" cy="264676"/>
          </a:xfrm>
          <a:prstGeom prst="rect">
            <a:avLst/>
          </a:prstGeom>
          <a:noFill/>
          <a:ln/>
        </p:spPr>
        <p:txBody>
          <a:bodyPr wrap="none" lIns="0" tIns="0" rIns="0" bIns="0" rtlCol="0" anchor="t"/>
          <a:lstStyle/>
          <a:p>
            <a:pPr marL="0" indent="0" algn="l">
              <a:lnSpc>
                <a:spcPts val="2050"/>
              </a:lnSpc>
              <a:buNone/>
            </a:pPr>
            <a:r>
              <a:rPr lang="en-US" sz="1400" dirty="0">
                <a:solidFill>
                  <a:srgbClr val="000000"/>
                </a:solidFill>
                <a:latin typeface="Manrope" pitchFamily="34" charset="0"/>
                <a:ea typeface="Manrope" pitchFamily="34" charset="-122"/>
                <a:cs typeface="Manrope" pitchFamily="34" charset="-120"/>
              </a:rPr>
              <a:t>Supporting Ghana's security goals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664</Words>
  <Application>Microsoft Office PowerPoint</Application>
  <PresentationFormat>Custom</PresentationFormat>
  <Paragraphs>135</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Manrope</vt:lpstr>
      <vt:lpstr>Alexandria Medium</vt:lpstr>
      <vt:lpstr>Calibri</vt:lpstr>
      <vt:lpstr>Alexandria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Nino Brown</dc:creator>
  <cp:lastModifiedBy>Nino</cp:lastModifiedBy>
  <cp:revision>1</cp:revision>
  <dcterms:created xsi:type="dcterms:W3CDTF">2026-02-11T16:30:41Z</dcterms:created>
  <dcterms:modified xsi:type="dcterms:W3CDTF">2026-02-25T10:00:06Z</dcterms:modified>
</cp:coreProperties>
</file>